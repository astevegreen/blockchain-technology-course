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6983" r:id="rId5"/>
    <p:sldId id="69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72E128-F39E-17E5-C5DE-A33BD2B487C1}" name="Arnold, Todd W COL" initials="AC" userId="S::todd.arnold@westpoint.edu::3f7a11db-a2e3-45f8-92af-995144bf597c" providerId="AD"/>
  <p188:author id="{1146BB4F-F6EB-D4C5-6739-525DC659C29B}" name="Corbett, Matthew L LTC" initials="CL" userId="S::matthew.corbett@westpoint.edu::6c01ed47-9d87-4c22-8bdb-085b0b835153" providerId="AD"/>
  <p188:author id="{775A845E-721A-5CB3-FA2C-406654A2DD38}" name="Catudal, Joseph W LTC" initials="" userId="S::joseph.catudal@westpoint.edu::2bba654e-517d-4bd8-a9be-a99b1dc970ad" providerId="AD"/>
  <p188:author id="{83DE5CA0-1970-88A4-23B1-945EDC231399}" name="Maxwell, Paul Dr" initials="MP" userId="S::paul.maxwell@westpoint.edu::4fe82d31-1620-4121-a1ec-977939dee392" providerId="AD"/>
  <p188:author id="{0DB5D5A3-E7DD-CE56-E058-6A6C6B6CC5F2}" name="Olson, Karl M LTC" initials="OL" userId="S::karl.olson@westpoint.edu::c01431dd-ad9c-434d-ba37-93e6db4503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B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558"/>
  </p:normalViewPr>
  <p:slideViewPr>
    <p:cSldViewPr snapToGrid="0">
      <p:cViewPr varScale="1">
        <p:scale>
          <a:sx n="121" d="100"/>
          <a:sy n="121" d="100"/>
        </p:scale>
        <p:origin x="11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4457A-5FB1-457E-BE91-823DC361FAE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91706-4BE7-484D-8EE3-67CB4F91E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0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63D7-7F3C-B021-DB44-6A4C13EE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9C4FE-62CC-6DAC-D9D3-EAD93C982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48023-2260-8B36-9976-A1E1FAB79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4EC93-023C-E3C0-621D-46F0F9402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7155F-442D-43F0-85F9-35F804261D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7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E065-1F40-33A3-1BC0-DA5EB0D1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6B394-0960-D631-50E5-64A1F6F67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CB4D1-3F9A-344B-94CA-4434433EF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14BF-5051-5B2C-A546-A01897321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7155F-442D-43F0-85F9-35F804261D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7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42DC-4B15-92D9-BEEE-90AE8A175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278E3-600B-9C4C-93EB-7CE3EED0C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EEA30-0920-6EAF-4E57-3C6A2E9B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F6C6B-7DF5-C090-2B3E-371EEFE8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9E4A0-06EC-EAD8-4ECE-3910E989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0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FB7A-D4DA-D03A-84A0-DECF5BA3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63D05-B612-D1A5-B5EA-9C8829206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E7C4-98DA-94A3-7276-853D5BA8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C2FD1-B4EE-7089-7DB1-2D4646FE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25196-AB23-B5D2-390D-2C6767A5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4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7C3C-38BA-7F64-B0A4-A7A0CA24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08C57-8EF7-F0E4-1CB5-B6160CFB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2A38B-5A38-1CF8-CCB3-F625B159A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8CA8D-0B6A-6BB0-97BE-46C4E11C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5A4E-B1DC-4BF4-ECEB-DE57D338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5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8164-54B7-ECA4-456D-C2ED748C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B32A4-3BC6-4103-60C2-9F3A0E448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C6062-ADB9-EB99-5E91-4DC877463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46967-4981-BDDA-F0DE-6E65359A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C083C-59CC-8472-665C-3C9AC134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4C5B6-010D-09F3-87CF-7ECDC13F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3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4CA0-1016-CFB9-3ABE-093813DD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346E1-BB40-307D-D45B-B2DEE57F2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B1481-8975-8B4C-1821-2321BE6DA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228AB-FCA2-E5A0-5557-498B6047D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6B7E0-D1E2-D2DF-2C51-68BF20588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ACE1C-6543-165A-B77B-3EFB33AC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82F22-0A69-2320-9959-F7CCCB23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B2E34-0953-7579-F28B-70756DDC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7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3715-D3B3-3935-DE66-3C35C6D2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74287-D37A-9FC1-BB1D-44CDBE1F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62362-1366-B570-C174-7537102B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6DA99-8139-1EEB-BB48-884481B0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7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CA9BD-7778-9B29-B5B0-D7C87D32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E43AB-60B4-5562-FF41-7F3EF60B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0DD8B-6A9A-8C57-AD89-F24507D6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7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AD0-CC91-534D-59A9-48A63545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15C8-B8F2-62D3-8ECE-44E41A3FC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552BA-F090-5844-A293-AA06966D5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E96F-99B0-FD22-0FD5-9D511C926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4B86D-8D03-E90B-F1BF-D30FA211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CDEA0-9778-30C1-E778-B6744797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2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E324-B6B4-2833-E173-3DCEB07D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8B858-E60A-4A61-A6C7-CB46B7E39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036BC-1265-4C7D-2EB0-04CDDDACD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3D13C-868B-A659-AFDF-EC8D2FF7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6F25F-6356-C21D-8D58-CB841C75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35E9C-FA87-5360-F98A-8ED88266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3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329E-9460-E8ED-09E5-98923CCA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0FEA8-0A43-EB85-3CEF-FD58FDED7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B00B3-D64C-CFB7-26D8-B9D0D297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1BDC-C698-7397-A9EF-2E65E9A2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D8DE0-8D3E-5DAD-54CA-D79484DB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26F21-E4D4-F2CF-3D89-9BBDDC22D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2D716-F813-9A4A-0189-0FEB6D0B2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04E9F-1AC9-C240-B4F4-CC796322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F7593-529A-A679-41F9-323416C1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760F4-F24D-8CA3-C25B-7EA45213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2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31BD9-08E4-901A-89EB-A65FD8EF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CCE74-1A23-2F2E-F0D9-E077268A4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C4C64-FD9B-7695-3F22-E4D3ADA1B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D2ED0-9C95-4BAF-B538-D6064666EE60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606B0-2B69-4344-F01E-AA617968C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F4546-36DA-F50E-9F50-757E867F0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09178-AF94-46E5-8F9C-33A3141B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1C0D7-0819-1CA0-D7F7-28C99AB1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EDF3E0-2F85-FA05-DC3C-4014D0D6DA52}"/>
              </a:ext>
            </a:extLst>
          </p:cNvPr>
          <p:cNvGrpSpPr/>
          <p:nvPr/>
        </p:nvGrpSpPr>
        <p:grpSpPr>
          <a:xfrm>
            <a:off x="-36852" y="6168598"/>
            <a:ext cx="12262710" cy="689402"/>
            <a:chOff x="-36852" y="6168598"/>
            <a:chExt cx="12262710" cy="689402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04899295-D49F-537E-7A53-405EC65EBB3E}"/>
                </a:ext>
              </a:extLst>
            </p:cNvPr>
            <p:cNvSpPr/>
            <p:nvPr/>
          </p:nvSpPr>
          <p:spPr>
            <a:xfrm rot="10800000" flipH="1" flipV="1">
              <a:off x="-23220" y="6168598"/>
              <a:ext cx="12195481" cy="689402"/>
            </a:xfrm>
            <a:prstGeom prst="rtTriangle">
              <a:avLst/>
            </a:prstGeom>
            <a:gradFill flip="none" rotWithShape="1">
              <a:gsLst>
                <a:gs pos="0">
                  <a:schemeClr val="tx1"/>
                </a:gs>
                <a:gs pos="72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E1AB0A9-B4D3-1CE1-3D2F-55D5E309976B}"/>
                </a:ext>
              </a:extLst>
            </p:cNvPr>
            <p:cNvSpPr/>
            <p:nvPr/>
          </p:nvSpPr>
          <p:spPr>
            <a:xfrm rot="10800000" flipV="1">
              <a:off x="7461027" y="6283569"/>
              <a:ext cx="4751514" cy="574431"/>
            </a:xfrm>
            <a:prstGeom prst="rtTriangle">
              <a:avLst/>
            </a:prstGeom>
            <a:gradFill flip="none" rotWithShape="1">
              <a:gsLst>
                <a:gs pos="0">
                  <a:srgbClr val="FFD52F"/>
                </a:gs>
                <a:gs pos="72000">
                  <a:srgbClr val="FFD52F"/>
                </a:gs>
                <a:gs pos="100000">
                  <a:srgbClr val="FFD52F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365FF0-F8B6-7484-59B8-CD482EF7CBC4}"/>
                </a:ext>
              </a:extLst>
            </p:cNvPr>
            <p:cNvSpPr/>
            <p:nvPr/>
          </p:nvSpPr>
          <p:spPr>
            <a:xfrm rot="10339120">
              <a:off x="7582903" y="6516166"/>
              <a:ext cx="4642955" cy="77059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71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3A5448-0963-D3CA-0339-AACB688C6141}"/>
                </a:ext>
              </a:extLst>
            </p:cNvPr>
            <p:cNvSpPr/>
            <p:nvPr/>
          </p:nvSpPr>
          <p:spPr>
            <a:xfrm rot="11017813" flipH="1">
              <a:off x="-36852" y="6476722"/>
              <a:ext cx="11975871" cy="73152"/>
            </a:xfrm>
            <a:prstGeom prst="rect">
              <a:avLst/>
            </a:prstGeom>
            <a:gradFill flip="none" rotWithShape="1">
              <a:gsLst>
                <a:gs pos="0">
                  <a:srgbClr val="FFD530"/>
                </a:gs>
                <a:gs pos="71000">
                  <a:srgbClr val="FFD530"/>
                </a:gs>
                <a:gs pos="100000">
                  <a:srgbClr val="FFD530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</p:grpSp>
      <p:sp>
        <p:nvSpPr>
          <p:cNvPr id="62" name="Title 2">
            <a:extLst>
              <a:ext uri="{FF2B5EF4-FFF2-40B4-BE49-F238E27FC236}">
                <a16:creationId xmlns:a16="http://schemas.microsoft.com/office/drawing/2014/main" id="{29D5E34D-3FEB-1DE6-F351-60599A1C9FA7}"/>
              </a:ext>
            </a:extLst>
          </p:cNvPr>
          <p:cNvSpPr txBox="1">
            <a:spLocks/>
          </p:cNvSpPr>
          <p:nvPr/>
        </p:nvSpPr>
        <p:spPr>
          <a:xfrm>
            <a:off x="3014505" y="0"/>
            <a:ext cx="8936895" cy="1058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b="1" i="1">
                <a:solidFill>
                  <a:schemeClr val="bg1"/>
                </a:solidFill>
                <a:latin typeface=" Arial"/>
                <a:cs typeface="Calibri"/>
              </a:rPr>
              <a:t>Organization</a:t>
            </a:r>
          </a:p>
          <a:p>
            <a:pPr algn="r"/>
            <a:r>
              <a:rPr lang="en-US" sz="2800" b="1" i="1">
                <a:solidFill>
                  <a:schemeClr val="bg1"/>
                </a:solidFill>
                <a:latin typeface=" Arial"/>
                <a:cs typeface="Calibri"/>
              </a:rPr>
              <a:t>Overview</a:t>
            </a:r>
            <a:endParaRPr lang="en-US" sz="4400" b="1" i="1">
              <a:solidFill>
                <a:schemeClr val="bg1"/>
              </a:solidFill>
              <a:latin typeface=" 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D9487A3-783F-1B8E-825E-EE4AB393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4747"/>
            <a:ext cx="4114800" cy="365125"/>
          </a:xfrm>
        </p:spPr>
        <p:txBody>
          <a:bodyPr/>
          <a:lstStyle/>
          <a:p>
            <a:r>
              <a:rPr lang="en-US"/>
              <a:t>UNCLASSIFIED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9BE43-E237-CEB9-9081-4948F8591288}"/>
              </a:ext>
            </a:extLst>
          </p:cNvPr>
          <p:cNvSpPr/>
          <p:nvPr/>
        </p:nvSpPr>
        <p:spPr>
          <a:xfrm>
            <a:off x="2275" y="-14310"/>
            <a:ext cx="12192000" cy="10550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14EA98-27AE-DC17-3448-897210826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75" y="-16614"/>
            <a:ext cx="2773905" cy="106099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9B720D9-89E3-50CD-5DE2-91C24AAE800B}"/>
              </a:ext>
            </a:extLst>
          </p:cNvPr>
          <p:cNvSpPr txBox="1">
            <a:spLocks/>
          </p:cNvSpPr>
          <p:nvPr/>
        </p:nvSpPr>
        <p:spPr>
          <a:xfrm>
            <a:off x="3016780" y="-14310"/>
            <a:ext cx="8936895" cy="1058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b="1" i="1" dirty="0">
                <a:solidFill>
                  <a:schemeClr val="bg1"/>
                </a:solidFill>
                <a:latin typeface=" Arial"/>
                <a:cs typeface="Calibri"/>
              </a:rPr>
              <a:t>Blockchain Technology </a:t>
            </a:r>
          </a:p>
          <a:p>
            <a:pPr algn="r"/>
            <a:r>
              <a:rPr lang="en-US" sz="2800" b="1" i="1" dirty="0">
                <a:solidFill>
                  <a:schemeClr val="bg1"/>
                </a:solidFill>
                <a:latin typeface=" Arial"/>
                <a:cs typeface="Calibri"/>
              </a:rPr>
              <a:t>Course Schedule</a:t>
            </a:r>
            <a:endParaRPr lang="en-US" sz="4400" b="1" i="1" dirty="0">
              <a:solidFill>
                <a:schemeClr val="bg1"/>
              </a:solidFill>
              <a:latin typeface=" Arial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87547F4-DC32-7040-5AE5-58CFD668E295}"/>
              </a:ext>
            </a:extLst>
          </p:cNvPr>
          <p:cNvGrpSpPr/>
          <p:nvPr/>
        </p:nvGrpSpPr>
        <p:grpSpPr>
          <a:xfrm>
            <a:off x="670066" y="1093234"/>
            <a:ext cx="2173678" cy="2453833"/>
            <a:chOff x="2144700" y="1194780"/>
            <a:chExt cx="1971869" cy="245383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8C90656-ADBF-DE37-6646-667683BF53E4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itle 2">
              <a:extLst>
                <a:ext uri="{FF2B5EF4-FFF2-40B4-BE49-F238E27FC236}">
                  <a16:creationId xmlns:a16="http://schemas.microsoft.com/office/drawing/2014/main" id="{746AA3FB-5694-8B3D-0658-B052FA74C410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MONDAY</a:t>
              </a:r>
            </a:p>
          </p:txBody>
        </p:sp>
        <p:sp>
          <p:nvSpPr>
            <p:cNvPr id="70" name="Title 2">
              <a:extLst>
                <a:ext uri="{FF2B5EF4-FFF2-40B4-BE49-F238E27FC236}">
                  <a16:creationId xmlns:a16="http://schemas.microsoft.com/office/drawing/2014/main" id="{E91FC335-6AC4-51E1-EA2D-5694B34AA848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5753BF3-B4B6-8E18-8B1B-1DC14D49D2FB}"/>
              </a:ext>
            </a:extLst>
          </p:cNvPr>
          <p:cNvGrpSpPr/>
          <p:nvPr/>
        </p:nvGrpSpPr>
        <p:grpSpPr>
          <a:xfrm>
            <a:off x="2841236" y="1093234"/>
            <a:ext cx="2173678" cy="2453833"/>
            <a:chOff x="2144700" y="1194780"/>
            <a:chExt cx="1971869" cy="2453833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45C80AF-1D42-49B9-EDFB-A75B79381B39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itle 2">
              <a:extLst>
                <a:ext uri="{FF2B5EF4-FFF2-40B4-BE49-F238E27FC236}">
                  <a16:creationId xmlns:a16="http://schemas.microsoft.com/office/drawing/2014/main" id="{3ADE18DD-E1F1-C5FE-C145-5CED1149F425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TUESDAY</a:t>
              </a:r>
            </a:p>
          </p:txBody>
        </p:sp>
        <p:sp>
          <p:nvSpPr>
            <p:cNvPr id="152" name="Title 2">
              <a:extLst>
                <a:ext uri="{FF2B5EF4-FFF2-40B4-BE49-F238E27FC236}">
                  <a16:creationId xmlns:a16="http://schemas.microsoft.com/office/drawing/2014/main" id="{72E02BBA-BA88-889E-8F49-C547649BBE79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6B194D3-487A-7B84-33BC-CE052336D738}"/>
              </a:ext>
            </a:extLst>
          </p:cNvPr>
          <p:cNvGrpSpPr/>
          <p:nvPr/>
        </p:nvGrpSpPr>
        <p:grpSpPr>
          <a:xfrm>
            <a:off x="5002079" y="1093234"/>
            <a:ext cx="2173678" cy="2453833"/>
            <a:chOff x="2144700" y="1194780"/>
            <a:chExt cx="1971869" cy="245383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ACD62C6-C29D-F519-AF84-DAAB9ABDFC09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itle 2">
              <a:extLst>
                <a:ext uri="{FF2B5EF4-FFF2-40B4-BE49-F238E27FC236}">
                  <a16:creationId xmlns:a16="http://schemas.microsoft.com/office/drawing/2014/main" id="{62634240-94DC-62E8-3F07-0A16D3A6B1F3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WEDNESDAY</a:t>
              </a:r>
            </a:p>
          </p:txBody>
        </p:sp>
        <p:sp>
          <p:nvSpPr>
            <p:cNvPr id="156" name="Title 2">
              <a:extLst>
                <a:ext uri="{FF2B5EF4-FFF2-40B4-BE49-F238E27FC236}">
                  <a16:creationId xmlns:a16="http://schemas.microsoft.com/office/drawing/2014/main" id="{001701FE-91DE-E9F5-DEAD-DFC1397187A0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AA4DC3E-8E61-3D97-2BD7-DD645237ADB7}"/>
              </a:ext>
            </a:extLst>
          </p:cNvPr>
          <p:cNvGrpSpPr/>
          <p:nvPr/>
        </p:nvGrpSpPr>
        <p:grpSpPr>
          <a:xfrm>
            <a:off x="7176421" y="1093234"/>
            <a:ext cx="2173678" cy="2453832"/>
            <a:chOff x="2144700" y="1194780"/>
            <a:chExt cx="1971869" cy="2453832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CC37AD6-44F5-4BC0-7053-FF4E4433C539}"/>
                </a:ext>
              </a:extLst>
            </p:cNvPr>
            <p:cNvSpPr/>
            <p:nvPr/>
          </p:nvSpPr>
          <p:spPr>
            <a:xfrm>
              <a:off x="2146975" y="1275744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itle 2">
              <a:extLst>
                <a:ext uri="{FF2B5EF4-FFF2-40B4-BE49-F238E27FC236}">
                  <a16:creationId xmlns:a16="http://schemas.microsoft.com/office/drawing/2014/main" id="{A90D985A-567D-7DE9-3135-644DA61BFAD8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THURSDAY</a:t>
              </a:r>
            </a:p>
          </p:txBody>
        </p:sp>
        <p:sp>
          <p:nvSpPr>
            <p:cNvPr id="160" name="Title 2">
              <a:extLst>
                <a:ext uri="{FF2B5EF4-FFF2-40B4-BE49-F238E27FC236}">
                  <a16:creationId xmlns:a16="http://schemas.microsoft.com/office/drawing/2014/main" id="{7D37C729-A0BB-244E-7E54-4CF84BFD2F8C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50598FE-3543-1D88-90E6-BD5B12C18AE1}"/>
              </a:ext>
            </a:extLst>
          </p:cNvPr>
          <p:cNvGrpSpPr/>
          <p:nvPr/>
        </p:nvGrpSpPr>
        <p:grpSpPr>
          <a:xfrm>
            <a:off x="9348257" y="1093234"/>
            <a:ext cx="2173678" cy="2453831"/>
            <a:chOff x="2144700" y="1194780"/>
            <a:chExt cx="1971869" cy="245383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3ACAA51-9912-8570-4A4B-20F45CE91E0F}"/>
                </a:ext>
              </a:extLst>
            </p:cNvPr>
            <p:cNvSpPr/>
            <p:nvPr/>
          </p:nvSpPr>
          <p:spPr>
            <a:xfrm>
              <a:off x="2146975" y="1275744"/>
              <a:ext cx="1969594" cy="237286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itle 2">
              <a:extLst>
                <a:ext uri="{FF2B5EF4-FFF2-40B4-BE49-F238E27FC236}">
                  <a16:creationId xmlns:a16="http://schemas.microsoft.com/office/drawing/2014/main" id="{EC31D567-00C7-97D7-CCB5-8BECFAC62AEE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FRIDAY</a:t>
              </a:r>
            </a:p>
          </p:txBody>
        </p:sp>
        <p:sp>
          <p:nvSpPr>
            <p:cNvPr id="164" name="Title 2">
              <a:extLst>
                <a:ext uri="{FF2B5EF4-FFF2-40B4-BE49-F238E27FC236}">
                  <a16:creationId xmlns:a16="http://schemas.microsoft.com/office/drawing/2014/main" id="{D2132F4C-A5CA-0D66-E0BB-1AC2D59FA4B4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4C34792-AB43-4F98-2B4B-D57406929286}"/>
              </a:ext>
            </a:extLst>
          </p:cNvPr>
          <p:cNvGrpSpPr/>
          <p:nvPr/>
        </p:nvGrpSpPr>
        <p:grpSpPr>
          <a:xfrm>
            <a:off x="670066" y="3676766"/>
            <a:ext cx="2173678" cy="2455483"/>
            <a:chOff x="2144700" y="1194780"/>
            <a:chExt cx="1971869" cy="2455483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D1B700A-0F36-714F-9DEC-C4C276362579}"/>
                </a:ext>
              </a:extLst>
            </p:cNvPr>
            <p:cNvSpPr/>
            <p:nvPr/>
          </p:nvSpPr>
          <p:spPr>
            <a:xfrm>
              <a:off x="2146975" y="1275744"/>
              <a:ext cx="1969594" cy="2374519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itle 2">
              <a:extLst>
                <a:ext uri="{FF2B5EF4-FFF2-40B4-BE49-F238E27FC236}">
                  <a16:creationId xmlns:a16="http://schemas.microsoft.com/office/drawing/2014/main" id="{7702BD2C-07E8-49D5-1D11-297AD3529F6F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MONDAY</a:t>
              </a:r>
            </a:p>
          </p:txBody>
        </p:sp>
        <p:sp>
          <p:nvSpPr>
            <p:cNvPr id="168" name="Title 2">
              <a:extLst>
                <a:ext uri="{FF2B5EF4-FFF2-40B4-BE49-F238E27FC236}">
                  <a16:creationId xmlns:a16="http://schemas.microsoft.com/office/drawing/2014/main" id="{9BE82F18-EEC3-AD27-DED0-3A9C9F5B12EB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1A5313C-25CB-B9C4-4B21-6AF7E20ED43A}"/>
              </a:ext>
            </a:extLst>
          </p:cNvPr>
          <p:cNvGrpSpPr/>
          <p:nvPr/>
        </p:nvGrpSpPr>
        <p:grpSpPr>
          <a:xfrm>
            <a:off x="2841236" y="3676766"/>
            <a:ext cx="2173678" cy="2455483"/>
            <a:chOff x="2144700" y="1194780"/>
            <a:chExt cx="1971869" cy="2455483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9A1050C-1807-6F50-2DEA-B202C98D60F8}"/>
                </a:ext>
              </a:extLst>
            </p:cNvPr>
            <p:cNvSpPr/>
            <p:nvPr/>
          </p:nvSpPr>
          <p:spPr>
            <a:xfrm>
              <a:off x="2146975" y="1275745"/>
              <a:ext cx="1969594" cy="237451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Title 2">
              <a:extLst>
                <a:ext uri="{FF2B5EF4-FFF2-40B4-BE49-F238E27FC236}">
                  <a16:creationId xmlns:a16="http://schemas.microsoft.com/office/drawing/2014/main" id="{C5F1CD23-DD0B-B666-5FA0-B2022C51AB8E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TUESDAY</a:t>
              </a:r>
            </a:p>
          </p:txBody>
        </p:sp>
        <p:sp>
          <p:nvSpPr>
            <p:cNvPr id="172" name="Title 2">
              <a:extLst>
                <a:ext uri="{FF2B5EF4-FFF2-40B4-BE49-F238E27FC236}">
                  <a16:creationId xmlns:a16="http://schemas.microsoft.com/office/drawing/2014/main" id="{A5270575-6174-5C31-4FBE-48553D855898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346119F-FF07-DB09-CE2F-2CAE2811C3BF}"/>
              </a:ext>
            </a:extLst>
          </p:cNvPr>
          <p:cNvGrpSpPr/>
          <p:nvPr/>
        </p:nvGrpSpPr>
        <p:grpSpPr>
          <a:xfrm>
            <a:off x="5002079" y="3676766"/>
            <a:ext cx="2173678" cy="2455483"/>
            <a:chOff x="2144700" y="1194780"/>
            <a:chExt cx="1971869" cy="2455483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C7EF735-8E37-9EDC-BB5E-F014F7E2E5F7}"/>
                </a:ext>
              </a:extLst>
            </p:cNvPr>
            <p:cNvSpPr/>
            <p:nvPr/>
          </p:nvSpPr>
          <p:spPr>
            <a:xfrm>
              <a:off x="2146975" y="1275745"/>
              <a:ext cx="1969594" cy="237451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itle 2">
              <a:extLst>
                <a:ext uri="{FF2B5EF4-FFF2-40B4-BE49-F238E27FC236}">
                  <a16:creationId xmlns:a16="http://schemas.microsoft.com/office/drawing/2014/main" id="{0480C50D-2C9D-6F06-924D-0BA404D37783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WEDNESDAY</a:t>
              </a:r>
            </a:p>
          </p:txBody>
        </p:sp>
        <p:sp>
          <p:nvSpPr>
            <p:cNvPr id="176" name="Title 2">
              <a:extLst>
                <a:ext uri="{FF2B5EF4-FFF2-40B4-BE49-F238E27FC236}">
                  <a16:creationId xmlns:a16="http://schemas.microsoft.com/office/drawing/2014/main" id="{D7C02E08-A182-504E-233C-91B8705B2740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3B17D34-5814-BD89-25A2-39051CFFCE97}"/>
              </a:ext>
            </a:extLst>
          </p:cNvPr>
          <p:cNvGrpSpPr/>
          <p:nvPr/>
        </p:nvGrpSpPr>
        <p:grpSpPr>
          <a:xfrm>
            <a:off x="7176421" y="3676766"/>
            <a:ext cx="2173678" cy="2455482"/>
            <a:chOff x="2144700" y="1194780"/>
            <a:chExt cx="1971869" cy="2455482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6DB15D67-A288-973C-C41E-38D948956D8E}"/>
                </a:ext>
              </a:extLst>
            </p:cNvPr>
            <p:cNvSpPr/>
            <p:nvPr/>
          </p:nvSpPr>
          <p:spPr>
            <a:xfrm>
              <a:off x="2146975" y="1275745"/>
              <a:ext cx="1969594" cy="237451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Title 2">
              <a:extLst>
                <a:ext uri="{FF2B5EF4-FFF2-40B4-BE49-F238E27FC236}">
                  <a16:creationId xmlns:a16="http://schemas.microsoft.com/office/drawing/2014/main" id="{F87F56AA-65D1-3E09-8552-43D1B621E12F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THURSDAY</a:t>
              </a:r>
            </a:p>
          </p:txBody>
        </p:sp>
        <p:sp>
          <p:nvSpPr>
            <p:cNvPr id="180" name="Title 2">
              <a:extLst>
                <a:ext uri="{FF2B5EF4-FFF2-40B4-BE49-F238E27FC236}">
                  <a16:creationId xmlns:a16="http://schemas.microsoft.com/office/drawing/2014/main" id="{402781A3-145C-4708-81D1-044FE3023A69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E55C845-67E0-3542-47AA-99798474FF02}"/>
              </a:ext>
            </a:extLst>
          </p:cNvPr>
          <p:cNvGrpSpPr/>
          <p:nvPr/>
        </p:nvGrpSpPr>
        <p:grpSpPr>
          <a:xfrm>
            <a:off x="9348257" y="3676766"/>
            <a:ext cx="2173678" cy="2455482"/>
            <a:chOff x="2144700" y="1194780"/>
            <a:chExt cx="1971869" cy="2455482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F2C40F35-FC7F-F446-FFE8-8C0F0FE05D7C}"/>
                </a:ext>
              </a:extLst>
            </p:cNvPr>
            <p:cNvSpPr/>
            <p:nvPr/>
          </p:nvSpPr>
          <p:spPr>
            <a:xfrm>
              <a:off x="2146975" y="1275745"/>
              <a:ext cx="1969594" cy="237451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Title 2">
              <a:extLst>
                <a:ext uri="{FF2B5EF4-FFF2-40B4-BE49-F238E27FC236}">
                  <a16:creationId xmlns:a16="http://schemas.microsoft.com/office/drawing/2014/main" id="{0F5C12D8-6109-60C1-39B3-4FE2A9C0C806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FRIDAY</a:t>
              </a:r>
            </a:p>
          </p:txBody>
        </p:sp>
        <p:sp>
          <p:nvSpPr>
            <p:cNvPr id="184" name="Title 2">
              <a:extLst>
                <a:ext uri="{FF2B5EF4-FFF2-40B4-BE49-F238E27FC236}">
                  <a16:creationId xmlns:a16="http://schemas.microsoft.com/office/drawing/2014/main" id="{A6399D6B-5039-3A1A-14B2-343DEF61300A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sp>
        <p:nvSpPr>
          <p:cNvPr id="8220" name="Rectangle 8219">
            <a:extLst>
              <a:ext uri="{FF2B5EF4-FFF2-40B4-BE49-F238E27FC236}">
                <a16:creationId xmlns:a16="http://schemas.microsoft.com/office/drawing/2014/main" id="{D41753A1-A456-8819-E695-0B9E72957149}"/>
              </a:ext>
            </a:extLst>
          </p:cNvPr>
          <p:cNvSpPr/>
          <p:nvPr/>
        </p:nvSpPr>
        <p:spPr>
          <a:xfrm>
            <a:off x="734312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WELCOME + PRETEST</a:t>
            </a:r>
          </a:p>
        </p:txBody>
      </p:sp>
      <p:sp>
        <p:nvSpPr>
          <p:cNvPr id="8222" name="Rectangle 8221">
            <a:extLst>
              <a:ext uri="{FF2B5EF4-FFF2-40B4-BE49-F238E27FC236}">
                <a16:creationId xmlns:a16="http://schemas.microsoft.com/office/drawing/2014/main" id="{E7053FE3-4C4E-D9A8-BF01-F14C66EA119A}"/>
              </a:ext>
            </a:extLst>
          </p:cNvPr>
          <p:cNvSpPr/>
          <p:nvPr/>
        </p:nvSpPr>
        <p:spPr>
          <a:xfrm>
            <a:off x="734312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MONEY INSTITUTIONS &amp;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CASE FOR ALTERNATIVES</a:t>
            </a:r>
          </a:p>
        </p:txBody>
      </p:sp>
      <p:sp>
        <p:nvSpPr>
          <p:cNvPr id="8216" name="Rectangle 8215">
            <a:extLst>
              <a:ext uri="{FF2B5EF4-FFF2-40B4-BE49-F238E27FC236}">
                <a16:creationId xmlns:a16="http://schemas.microsoft.com/office/drawing/2014/main" id="{70D776C7-1C83-3BF4-33C8-22A6D671D61D}"/>
              </a:ext>
            </a:extLst>
          </p:cNvPr>
          <p:cNvSpPr/>
          <p:nvPr/>
        </p:nvSpPr>
        <p:spPr>
          <a:xfrm>
            <a:off x="734312" y="2784311"/>
            <a:ext cx="2045186" cy="148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SOCIAL TRUST LAB</a:t>
            </a:r>
          </a:p>
        </p:txBody>
      </p:sp>
      <p:sp>
        <p:nvSpPr>
          <p:cNvPr id="8229" name="Rectangle 8228">
            <a:extLst>
              <a:ext uri="{FF2B5EF4-FFF2-40B4-BE49-F238E27FC236}">
                <a16:creationId xmlns:a16="http://schemas.microsoft.com/office/drawing/2014/main" id="{8C7AB229-9CEF-A860-D100-0444C5DF3C63}"/>
              </a:ext>
            </a:extLst>
          </p:cNvPr>
          <p:cNvSpPr/>
          <p:nvPr/>
        </p:nvSpPr>
        <p:spPr>
          <a:xfrm>
            <a:off x="734312" y="293765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SOCIAL TRUST AND DISTRIBUTED SYSTEMS</a:t>
            </a:r>
          </a:p>
        </p:txBody>
      </p:sp>
      <p:sp>
        <p:nvSpPr>
          <p:cNvPr id="8230" name="Rectangle 8229">
            <a:extLst>
              <a:ext uri="{FF2B5EF4-FFF2-40B4-BE49-F238E27FC236}">
                <a16:creationId xmlns:a16="http://schemas.microsoft.com/office/drawing/2014/main" id="{CED1564A-3F70-EF23-0D05-F549992BD1BC}"/>
              </a:ext>
            </a:extLst>
          </p:cNvPr>
          <p:cNvSpPr/>
          <p:nvPr/>
        </p:nvSpPr>
        <p:spPr>
          <a:xfrm>
            <a:off x="734312" y="3228082"/>
            <a:ext cx="2045186" cy="1348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BYZANTINE GENERALS LAB</a:t>
            </a:r>
          </a:p>
        </p:txBody>
      </p:sp>
      <p:sp>
        <p:nvSpPr>
          <p:cNvPr id="8228" name="Rectangle 8227">
            <a:extLst>
              <a:ext uri="{FF2B5EF4-FFF2-40B4-BE49-F238E27FC236}">
                <a16:creationId xmlns:a16="http://schemas.microsoft.com/office/drawing/2014/main" id="{0D0D7B2A-0908-1169-6683-2D2BD3500423}"/>
              </a:ext>
            </a:extLst>
          </p:cNvPr>
          <p:cNvSpPr/>
          <p:nvPr/>
        </p:nvSpPr>
        <p:spPr>
          <a:xfrm>
            <a:off x="734312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AT A GLANCE</a:t>
            </a:r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ED092CE4-1A7E-2C4E-7606-682448F3C29C}"/>
              </a:ext>
            </a:extLst>
          </p:cNvPr>
          <p:cNvSpPr/>
          <p:nvPr/>
        </p:nvSpPr>
        <p:spPr>
          <a:xfrm>
            <a:off x="2905482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48" name="Rectangle 8247">
            <a:extLst>
              <a:ext uri="{FF2B5EF4-FFF2-40B4-BE49-F238E27FC236}">
                <a16:creationId xmlns:a16="http://schemas.microsoft.com/office/drawing/2014/main" id="{3EDD9B62-80FF-6E24-06DD-A00BAE677345}"/>
              </a:ext>
            </a:extLst>
          </p:cNvPr>
          <p:cNvSpPr/>
          <p:nvPr/>
        </p:nvSpPr>
        <p:spPr>
          <a:xfrm>
            <a:off x="2905482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CRYPTOGRAPHY INTRODUCTION</a:t>
            </a:r>
          </a:p>
        </p:txBody>
      </p:sp>
      <p:sp>
        <p:nvSpPr>
          <p:cNvPr id="8249" name="Rectangle 8248">
            <a:extLst>
              <a:ext uri="{FF2B5EF4-FFF2-40B4-BE49-F238E27FC236}">
                <a16:creationId xmlns:a16="http://schemas.microsoft.com/office/drawing/2014/main" id="{25661EA3-7C9D-48B6-3FF9-462607307995}"/>
              </a:ext>
            </a:extLst>
          </p:cNvPr>
          <p:cNvSpPr/>
          <p:nvPr/>
        </p:nvSpPr>
        <p:spPr>
          <a:xfrm>
            <a:off x="2905482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HASHING AND MERKLE TREES</a:t>
            </a:r>
          </a:p>
        </p:txBody>
      </p:sp>
      <p:sp>
        <p:nvSpPr>
          <p:cNvPr id="8252" name="Rectangle 8251">
            <a:extLst>
              <a:ext uri="{FF2B5EF4-FFF2-40B4-BE49-F238E27FC236}">
                <a16:creationId xmlns:a16="http://schemas.microsoft.com/office/drawing/2014/main" id="{30A369E1-C835-5EED-6469-924BF4B962FC}"/>
              </a:ext>
            </a:extLst>
          </p:cNvPr>
          <p:cNvSpPr/>
          <p:nvPr/>
        </p:nvSpPr>
        <p:spPr>
          <a:xfrm>
            <a:off x="2905482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SYMMETRIC ENCRYPTION</a:t>
            </a:r>
          </a:p>
        </p:txBody>
      </p:sp>
      <p:sp>
        <p:nvSpPr>
          <p:cNvPr id="8254" name="Rectangle 8253">
            <a:extLst>
              <a:ext uri="{FF2B5EF4-FFF2-40B4-BE49-F238E27FC236}">
                <a16:creationId xmlns:a16="http://schemas.microsoft.com/office/drawing/2014/main" id="{A5CDE312-F372-1E96-9C2B-4BF71B1E16D9}"/>
              </a:ext>
            </a:extLst>
          </p:cNvPr>
          <p:cNvSpPr/>
          <p:nvPr/>
        </p:nvSpPr>
        <p:spPr>
          <a:xfrm>
            <a:off x="2905482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ASYMMETRIC ENCRYPTION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DIGITAL SIGNATURES</a:t>
            </a:r>
          </a:p>
        </p:txBody>
      </p:sp>
      <p:sp>
        <p:nvSpPr>
          <p:cNvPr id="8255" name="Rectangle 8254">
            <a:extLst>
              <a:ext uri="{FF2B5EF4-FFF2-40B4-BE49-F238E27FC236}">
                <a16:creationId xmlns:a16="http://schemas.microsoft.com/office/drawing/2014/main" id="{A4851AB7-7F98-67C9-8294-C2D64AFCB284}"/>
              </a:ext>
            </a:extLst>
          </p:cNvPr>
          <p:cNvSpPr/>
          <p:nvPr/>
        </p:nvSpPr>
        <p:spPr>
          <a:xfrm>
            <a:off x="2905482" y="3077653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CRYPTO LAB</a:t>
            </a:r>
          </a:p>
        </p:txBody>
      </p:sp>
      <p:sp>
        <p:nvSpPr>
          <p:cNvPr id="8256" name="Rectangle 8255">
            <a:extLst>
              <a:ext uri="{FF2B5EF4-FFF2-40B4-BE49-F238E27FC236}">
                <a16:creationId xmlns:a16="http://schemas.microsoft.com/office/drawing/2014/main" id="{CEAE9111-FC8F-7F41-C5B0-9D817AD77008}"/>
              </a:ext>
            </a:extLst>
          </p:cNvPr>
          <p:cNvSpPr/>
          <p:nvPr/>
        </p:nvSpPr>
        <p:spPr>
          <a:xfrm>
            <a:off x="5066325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57" name="Rectangle 8256">
            <a:extLst>
              <a:ext uri="{FF2B5EF4-FFF2-40B4-BE49-F238E27FC236}">
                <a16:creationId xmlns:a16="http://schemas.microsoft.com/office/drawing/2014/main" id="{FBCBA48B-A0B1-5407-73F0-82BF4EE47091}"/>
              </a:ext>
            </a:extLst>
          </p:cNvPr>
          <p:cNvSpPr/>
          <p:nvPr/>
        </p:nvSpPr>
        <p:spPr>
          <a:xfrm>
            <a:off x="5066325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CRYPTOGRAPHIC ASSUMPTIONS AND CHALLENGES</a:t>
            </a:r>
          </a:p>
        </p:txBody>
      </p:sp>
      <p:sp>
        <p:nvSpPr>
          <p:cNvPr id="8258" name="Rectangle 8257">
            <a:extLst>
              <a:ext uri="{FF2B5EF4-FFF2-40B4-BE49-F238E27FC236}">
                <a16:creationId xmlns:a16="http://schemas.microsoft.com/office/drawing/2014/main" id="{F073D2B4-14DF-7209-051E-2BD65B418BE9}"/>
              </a:ext>
            </a:extLst>
          </p:cNvPr>
          <p:cNvSpPr/>
          <p:nvPr/>
        </p:nvSpPr>
        <p:spPr>
          <a:xfrm>
            <a:off x="5066325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DISTRIBUTED SYSTEMS</a:t>
            </a:r>
          </a:p>
        </p:txBody>
      </p:sp>
      <p:sp>
        <p:nvSpPr>
          <p:cNvPr id="8260" name="Rectangle 8259">
            <a:extLst>
              <a:ext uri="{FF2B5EF4-FFF2-40B4-BE49-F238E27FC236}">
                <a16:creationId xmlns:a16="http://schemas.microsoft.com/office/drawing/2014/main" id="{10D64F18-6828-B39A-628A-6391AEC659EF}"/>
              </a:ext>
            </a:extLst>
          </p:cNvPr>
          <p:cNvSpPr/>
          <p:nvPr/>
        </p:nvSpPr>
        <p:spPr>
          <a:xfrm>
            <a:off x="5066325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P2P DESIGN</a:t>
            </a:r>
          </a:p>
        </p:txBody>
      </p:sp>
      <p:sp>
        <p:nvSpPr>
          <p:cNvPr id="8261" name="Rectangle 8260">
            <a:extLst>
              <a:ext uri="{FF2B5EF4-FFF2-40B4-BE49-F238E27FC236}">
                <a16:creationId xmlns:a16="http://schemas.microsoft.com/office/drawing/2014/main" id="{933A9E08-0A2B-ACD6-F8BA-052126E6494A}"/>
              </a:ext>
            </a:extLst>
          </p:cNvPr>
          <p:cNvSpPr/>
          <p:nvPr/>
        </p:nvSpPr>
        <p:spPr>
          <a:xfrm>
            <a:off x="5066325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TRUST AND P2P</a:t>
            </a:r>
          </a:p>
        </p:txBody>
      </p:sp>
      <p:sp>
        <p:nvSpPr>
          <p:cNvPr id="8262" name="Rectangle 8261">
            <a:extLst>
              <a:ext uri="{FF2B5EF4-FFF2-40B4-BE49-F238E27FC236}">
                <a16:creationId xmlns:a16="http://schemas.microsoft.com/office/drawing/2014/main" id="{8440196F-DEEE-B93D-1C93-336E33B72AD0}"/>
              </a:ext>
            </a:extLst>
          </p:cNvPr>
          <p:cNvSpPr/>
          <p:nvPr/>
        </p:nvSpPr>
        <p:spPr>
          <a:xfrm>
            <a:off x="5066325" y="3077653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P2P LAB</a:t>
            </a:r>
          </a:p>
        </p:txBody>
      </p:sp>
      <p:sp>
        <p:nvSpPr>
          <p:cNvPr id="8280" name="Rectangle 8279">
            <a:extLst>
              <a:ext uri="{FF2B5EF4-FFF2-40B4-BE49-F238E27FC236}">
                <a16:creationId xmlns:a16="http://schemas.microsoft.com/office/drawing/2014/main" id="{3DA0DC37-D54A-3FDD-2AD6-BA6C48438C10}"/>
              </a:ext>
            </a:extLst>
          </p:cNvPr>
          <p:cNvSpPr/>
          <p:nvPr/>
        </p:nvSpPr>
        <p:spPr>
          <a:xfrm>
            <a:off x="734312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81" name="Rectangle 8280">
            <a:extLst>
              <a:ext uri="{FF2B5EF4-FFF2-40B4-BE49-F238E27FC236}">
                <a16:creationId xmlns:a16="http://schemas.microsoft.com/office/drawing/2014/main" id="{A73A7591-C1D5-88E5-1ED8-1331C8B4A516}"/>
              </a:ext>
            </a:extLst>
          </p:cNvPr>
          <p:cNvSpPr/>
          <p:nvPr/>
        </p:nvSpPr>
        <p:spPr>
          <a:xfrm>
            <a:off x="734312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ORIGINS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MECHANICS</a:t>
            </a:r>
          </a:p>
        </p:txBody>
      </p:sp>
      <p:sp>
        <p:nvSpPr>
          <p:cNvPr id="8282" name="Rectangle 8281">
            <a:extLst>
              <a:ext uri="{FF2B5EF4-FFF2-40B4-BE49-F238E27FC236}">
                <a16:creationId xmlns:a16="http://schemas.microsoft.com/office/drawing/2014/main" id="{004A964A-7522-CA3C-F3A9-C5917417D270}"/>
              </a:ext>
            </a:extLst>
          </p:cNvPr>
          <p:cNvSpPr/>
          <p:nvPr/>
        </p:nvSpPr>
        <p:spPr>
          <a:xfrm>
            <a:off x="734312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TRANSACTIONS AND MINING</a:t>
            </a:r>
          </a:p>
        </p:txBody>
      </p:sp>
      <p:sp>
        <p:nvSpPr>
          <p:cNvPr id="8284" name="Rectangle 8283">
            <a:extLst>
              <a:ext uri="{FF2B5EF4-FFF2-40B4-BE49-F238E27FC236}">
                <a16:creationId xmlns:a16="http://schemas.microsoft.com/office/drawing/2014/main" id="{E27DA8A6-C9FA-97E1-E926-9D0982B84937}"/>
              </a:ext>
            </a:extLst>
          </p:cNvPr>
          <p:cNvSpPr/>
          <p:nvPr/>
        </p:nvSpPr>
        <p:spPr>
          <a:xfrm>
            <a:off x="734312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NODES AND NETWORK</a:t>
            </a:r>
          </a:p>
        </p:txBody>
      </p:sp>
      <p:sp>
        <p:nvSpPr>
          <p:cNvPr id="8285" name="Rectangle 8284">
            <a:extLst>
              <a:ext uri="{FF2B5EF4-FFF2-40B4-BE49-F238E27FC236}">
                <a16:creationId xmlns:a16="http://schemas.microsoft.com/office/drawing/2014/main" id="{F4EE7955-184F-A424-CF36-090D9105A6FD}"/>
              </a:ext>
            </a:extLst>
          </p:cNvPr>
          <p:cNvSpPr/>
          <p:nvPr/>
        </p:nvSpPr>
        <p:spPr>
          <a:xfrm>
            <a:off x="734312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SECURITY AND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LEGAL CONCERNS</a:t>
            </a:r>
          </a:p>
        </p:txBody>
      </p:sp>
      <p:sp>
        <p:nvSpPr>
          <p:cNvPr id="8286" name="Rectangle 8285">
            <a:extLst>
              <a:ext uri="{FF2B5EF4-FFF2-40B4-BE49-F238E27FC236}">
                <a16:creationId xmlns:a16="http://schemas.microsoft.com/office/drawing/2014/main" id="{27B6F2B5-5071-C91A-6CC4-207AB02C768D}"/>
              </a:ext>
            </a:extLst>
          </p:cNvPr>
          <p:cNvSpPr/>
          <p:nvPr/>
        </p:nvSpPr>
        <p:spPr>
          <a:xfrm>
            <a:off x="734312" y="5625516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BITCOIN LAB</a:t>
            </a:r>
          </a:p>
        </p:txBody>
      </p:sp>
      <p:sp>
        <p:nvSpPr>
          <p:cNvPr id="8287" name="Rectangle 8286">
            <a:extLst>
              <a:ext uri="{FF2B5EF4-FFF2-40B4-BE49-F238E27FC236}">
                <a16:creationId xmlns:a16="http://schemas.microsoft.com/office/drawing/2014/main" id="{EC2D5241-BFD7-BBD0-B933-3227F5060A0E}"/>
              </a:ext>
            </a:extLst>
          </p:cNvPr>
          <p:cNvSpPr/>
          <p:nvPr/>
        </p:nvSpPr>
        <p:spPr>
          <a:xfrm>
            <a:off x="2905482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88" name="Rectangle 8287">
            <a:extLst>
              <a:ext uri="{FF2B5EF4-FFF2-40B4-BE49-F238E27FC236}">
                <a16:creationId xmlns:a16="http://schemas.microsoft.com/office/drawing/2014/main" id="{F930FCAD-556B-56B4-D9F3-A7497AFAD43B}"/>
              </a:ext>
            </a:extLst>
          </p:cNvPr>
          <p:cNvSpPr/>
          <p:nvPr/>
        </p:nvSpPr>
        <p:spPr>
          <a:xfrm>
            <a:off x="2905482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INTRODUCTION</a:t>
            </a:r>
          </a:p>
        </p:txBody>
      </p:sp>
      <p:sp>
        <p:nvSpPr>
          <p:cNvPr id="8289" name="Rectangle 8288">
            <a:extLst>
              <a:ext uri="{FF2B5EF4-FFF2-40B4-BE49-F238E27FC236}">
                <a16:creationId xmlns:a16="http://schemas.microsoft.com/office/drawing/2014/main" id="{B302685C-C38F-B197-DB79-143194C1258F}"/>
              </a:ext>
            </a:extLst>
          </p:cNvPr>
          <p:cNvSpPr/>
          <p:nvPr/>
        </p:nvSpPr>
        <p:spPr>
          <a:xfrm>
            <a:off x="2905482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MINING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POS AND SECURITY</a:t>
            </a:r>
          </a:p>
        </p:txBody>
      </p:sp>
      <p:sp>
        <p:nvSpPr>
          <p:cNvPr id="8291" name="Rectangle 8290">
            <a:extLst>
              <a:ext uri="{FF2B5EF4-FFF2-40B4-BE49-F238E27FC236}">
                <a16:creationId xmlns:a16="http://schemas.microsoft.com/office/drawing/2014/main" id="{6621D425-0DEF-8A30-BDFE-6C46007DE23C}"/>
              </a:ext>
            </a:extLst>
          </p:cNvPr>
          <p:cNvSpPr/>
          <p:nvPr/>
        </p:nvSpPr>
        <p:spPr>
          <a:xfrm>
            <a:off x="2905482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NETWORK</a:t>
            </a:r>
          </a:p>
        </p:txBody>
      </p:sp>
      <p:sp>
        <p:nvSpPr>
          <p:cNvPr id="8292" name="Rectangle 8291">
            <a:extLst>
              <a:ext uri="{FF2B5EF4-FFF2-40B4-BE49-F238E27FC236}">
                <a16:creationId xmlns:a16="http://schemas.microsoft.com/office/drawing/2014/main" id="{6F75E17B-3E77-32B4-7C6E-02DF4F091E67}"/>
              </a:ext>
            </a:extLst>
          </p:cNvPr>
          <p:cNvSpPr/>
          <p:nvPr/>
        </p:nvSpPr>
        <p:spPr>
          <a:xfrm>
            <a:off x="2905482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SMART CONTRACTS</a:t>
            </a:r>
          </a:p>
        </p:txBody>
      </p:sp>
      <p:sp>
        <p:nvSpPr>
          <p:cNvPr id="8293" name="Rectangle 8292">
            <a:extLst>
              <a:ext uri="{FF2B5EF4-FFF2-40B4-BE49-F238E27FC236}">
                <a16:creationId xmlns:a16="http://schemas.microsoft.com/office/drawing/2014/main" id="{D46FF9B6-75D6-5A16-E148-DACA7D6D955F}"/>
              </a:ext>
            </a:extLst>
          </p:cNvPr>
          <p:cNvSpPr/>
          <p:nvPr/>
        </p:nvSpPr>
        <p:spPr>
          <a:xfrm>
            <a:off x="2905482" y="5625516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ETHEREUM LAB</a:t>
            </a:r>
          </a:p>
        </p:txBody>
      </p:sp>
      <p:sp>
        <p:nvSpPr>
          <p:cNvPr id="8294" name="Rectangle 8293">
            <a:extLst>
              <a:ext uri="{FF2B5EF4-FFF2-40B4-BE49-F238E27FC236}">
                <a16:creationId xmlns:a16="http://schemas.microsoft.com/office/drawing/2014/main" id="{FA1CE733-FF28-97EF-B548-F671F5858FA5}"/>
              </a:ext>
            </a:extLst>
          </p:cNvPr>
          <p:cNvSpPr/>
          <p:nvPr/>
        </p:nvSpPr>
        <p:spPr>
          <a:xfrm>
            <a:off x="5066325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95" name="Rectangle 8294">
            <a:extLst>
              <a:ext uri="{FF2B5EF4-FFF2-40B4-BE49-F238E27FC236}">
                <a16:creationId xmlns:a16="http://schemas.microsoft.com/office/drawing/2014/main" id="{7A974550-B170-327C-1AC7-F3321EDB58B4}"/>
              </a:ext>
            </a:extLst>
          </p:cNvPr>
          <p:cNvSpPr/>
          <p:nvPr/>
        </p:nvSpPr>
        <p:spPr>
          <a:xfrm>
            <a:off x="5066325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DIGITAL ASSETS TOKENIZATIONS AND NFTS</a:t>
            </a:r>
          </a:p>
        </p:txBody>
      </p:sp>
      <p:sp>
        <p:nvSpPr>
          <p:cNvPr id="8296" name="Rectangle 8295">
            <a:extLst>
              <a:ext uri="{FF2B5EF4-FFF2-40B4-BE49-F238E27FC236}">
                <a16:creationId xmlns:a16="http://schemas.microsoft.com/office/drawing/2014/main" id="{34FD0433-6D6C-5EC1-C52E-136E30113433}"/>
              </a:ext>
            </a:extLst>
          </p:cNvPr>
          <p:cNvSpPr/>
          <p:nvPr/>
        </p:nvSpPr>
        <p:spPr>
          <a:xfrm>
            <a:off x="5066325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TOKEN-BASED COMMUNITIES AND NFTS IN PRACTICE</a:t>
            </a:r>
          </a:p>
        </p:txBody>
      </p:sp>
      <p:sp>
        <p:nvSpPr>
          <p:cNvPr id="8298" name="Rectangle 8297">
            <a:extLst>
              <a:ext uri="{FF2B5EF4-FFF2-40B4-BE49-F238E27FC236}">
                <a16:creationId xmlns:a16="http://schemas.microsoft.com/office/drawing/2014/main" id="{032F36C4-7125-32E8-F80D-5761D158755F}"/>
              </a:ext>
            </a:extLst>
          </p:cNvPr>
          <p:cNvSpPr/>
          <p:nvPr/>
        </p:nvSpPr>
        <p:spPr>
          <a:xfrm>
            <a:off x="5066325" y="5049781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TOKEN LAB</a:t>
            </a:r>
          </a:p>
        </p:txBody>
      </p:sp>
      <p:sp>
        <p:nvSpPr>
          <p:cNvPr id="8299" name="Rectangle 8298">
            <a:extLst>
              <a:ext uri="{FF2B5EF4-FFF2-40B4-BE49-F238E27FC236}">
                <a16:creationId xmlns:a16="http://schemas.microsoft.com/office/drawing/2014/main" id="{5F9F9B14-F115-6C34-3BBD-EB34937F7BD4}"/>
              </a:ext>
            </a:extLst>
          </p:cNvPr>
          <p:cNvSpPr/>
          <p:nvPr/>
        </p:nvSpPr>
        <p:spPr>
          <a:xfrm>
            <a:off x="5066325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ILLICIT FINANCE FORENSICS AND REGULATION</a:t>
            </a:r>
          </a:p>
        </p:txBody>
      </p:sp>
      <p:sp>
        <p:nvSpPr>
          <p:cNvPr id="8300" name="Rectangle 8299">
            <a:extLst>
              <a:ext uri="{FF2B5EF4-FFF2-40B4-BE49-F238E27FC236}">
                <a16:creationId xmlns:a16="http://schemas.microsoft.com/office/drawing/2014/main" id="{2D50470E-379D-E660-6B43-EC64504C2731}"/>
              </a:ext>
            </a:extLst>
          </p:cNvPr>
          <p:cNvSpPr/>
          <p:nvPr/>
        </p:nvSpPr>
        <p:spPr>
          <a:xfrm>
            <a:off x="5066325" y="5625516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FORENSICS</a:t>
            </a:r>
          </a:p>
        </p:txBody>
      </p:sp>
      <p:sp>
        <p:nvSpPr>
          <p:cNvPr id="8301" name="Rectangle 8300">
            <a:extLst>
              <a:ext uri="{FF2B5EF4-FFF2-40B4-BE49-F238E27FC236}">
                <a16:creationId xmlns:a16="http://schemas.microsoft.com/office/drawing/2014/main" id="{1EED01C9-F8C8-212F-DCA6-EC670CDC2697}"/>
              </a:ext>
            </a:extLst>
          </p:cNvPr>
          <p:cNvSpPr/>
          <p:nvPr/>
        </p:nvSpPr>
        <p:spPr>
          <a:xfrm>
            <a:off x="7240667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305" name="Rectangle 8304">
            <a:extLst>
              <a:ext uri="{FF2B5EF4-FFF2-40B4-BE49-F238E27FC236}">
                <a16:creationId xmlns:a16="http://schemas.microsoft.com/office/drawing/2014/main" id="{5009BFDA-C1EE-89AB-050C-32F1B4F73289}"/>
              </a:ext>
            </a:extLst>
          </p:cNvPr>
          <p:cNvSpPr/>
          <p:nvPr/>
        </p:nvSpPr>
        <p:spPr>
          <a:xfrm>
            <a:off x="7240667" y="4309402"/>
            <a:ext cx="2045186" cy="4505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FORENSICS LAB</a:t>
            </a:r>
          </a:p>
        </p:txBody>
      </p:sp>
      <p:sp>
        <p:nvSpPr>
          <p:cNvPr id="8306" name="Rectangle 8305">
            <a:extLst>
              <a:ext uri="{FF2B5EF4-FFF2-40B4-BE49-F238E27FC236}">
                <a16:creationId xmlns:a16="http://schemas.microsoft.com/office/drawing/2014/main" id="{221510CE-3668-6A21-3EC7-77DD414A03AB}"/>
              </a:ext>
            </a:extLst>
          </p:cNvPr>
          <p:cNvSpPr/>
          <p:nvPr/>
        </p:nvSpPr>
        <p:spPr>
          <a:xfrm>
            <a:off x="7240667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IN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THE REAL WORLD</a:t>
            </a:r>
          </a:p>
        </p:txBody>
      </p:sp>
      <p:sp>
        <p:nvSpPr>
          <p:cNvPr id="8307" name="Rectangle 8306">
            <a:extLst>
              <a:ext uri="{FF2B5EF4-FFF2-40B4-BE49-F238E27FC236}">
                <a16:creationId xmlns:a16="http://schemas.microsoft.com/office/drawing/2014/main" id="{6F2B1504-593C-0CA9-E711-8FB9D2EBC735}"/>
              </a:ext>
            </a:extLst>
          </p:cNvPr>
          <p:cNvSpPr/>
          <p:nvPr/>
        </p:nvSpPr>
        <p:spPr>
          <a:xfrm>
            <a:off x="7240667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CBDC AND STABLECOINS</a:t>
            </a:r>
          </a:p>
        </p:txBody>
      </p:sp>
      <p:sp>
        <p:nvSpPr>
          <p:cNvPr id="8308" name="Rectangle 8307">
            <a:extLst>
              <a:ext uri="{FF2B5EF4-FFF2-40B4-BE49-F238E27FC236}">
                <a16:creationId xmlns:a16="http://schemas.microsoft.com/office/drawing/2014/main" id="{132E77CF-4026-4ED9-78DA-9C0650F5EC5E}"/>
              </a:ext>
            </a:extLst>
          </p:cNvPr>
          <p:cNvSpPr/>
          <p:nvPr/>
        </p:nvSpPr>
        <p:spPr>
          <a:xfrm>
            <a:off x="9412503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310" name="Rectangle 8309">
            <a:extLst>
              <a:ext uri="{FF2B5EF4-FFF2-40B4-BE49-F238E27FC236}">
                <a16:creationId xmlns:a16="http://schemas.microsoft.com/office/drawing/2014/main" id="{EE06F354-34C4-7592-8456-269EE045FF16}"/>
              </a:ext>
            </a:extLst>
          </p:cNvPr>
          <p:cNvSpPr/>
          <p:nvPr/>
        </p:nvSpPr>
        <p:spPr>
          <a:xfrm>
            <a:off x="9412503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TECHNICAL CONCEPTS REVIEW</a:t>
            </a:r>
          </a:p>
        </p:txBody>
      </p:sp>
      <p:sp>
        <p:nvSpPr>
          <p:cNvPr id="8312" name="Rectangle 8311">
            <a:extLst>
              <a:ext uri="{FF2B5EF4-FFF2-40B4-BE49-F238E27FC236}">
                <a16:creationId xmlns:a16="http://schemas.microsoft.com/office/drawing/2014/main" id="{4C634284-7E29-BD4E-5D41-4535F3CA2105}"/>
              </a:ext>
            </a:extLst>
          </p:cNvPr>
          <p:cNvSpPr/>
          <p:nvPr/>
        </p:nvSpPr>
        <p:spPr>
          <a:xfrm>
            <a:off x="9412503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FUTURE TRAJECTORIES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SYNTHESIS</a:t>
            </a:r>
          </a:p>
        </p:txBody>
      </p:sp>
      <p:sp>
        <p:nvSpPr>
          <p:cNvPr id="8313" name="Rectangle 8312">
            <a:extLst>
              <a:ext uri="{FF2B5EF4-FFF2-40B4-BE49-F238E27FC236}">
                <a16:creationId xmlns:a16="http://schemas.microsoft.com/office/drawing/2014/main" id="{EAAFC140-572F-0FA6-8996-17A6AA9BB3CD}"/>
              </a:ext>
            </a:extLst>
          </p:cNvPr>
          <p:cNvSpPr/>
          <p:nvPr/>
        </p:nvSpPr>
        <p:spPr>
          <a:xfrm>
            <a:off x="9412503" y="5049781"/>
            <a:ext cx="2045186" cy="2887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FINAL EXAM</a:t>
            </a:r>
          </a:p>
        </p:txBody>
      </p:sp>
      <p:sp>
        <p:nvSpPr>
          <p:cNvPr id="8315" name="Rectangle 8314">
            <a:extLst>
              <a:ext uri="{FF2B5EF4-FFF2-40B4-BE49-F238E27FC236}">
                <a16:creationId xmlns:a16="http://schemas.microsoft.com/office/drawing/2014/main" id="{7B0ED32A-1906-18C9-6330-EDDEA770AAA9}"/>
              </a:ext>
            </a:extLst>
          </p:cNvPr>
          <p:cNvSpPr/>
          <p:nvPr/>
        </p:nvSpPr>
        <p:spPr>
          <a:xfrm>
            <a:off x="9412503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OUTBRIEF AND AAR</a:t>
            </a:r>
          </a:p>
        </p:txBody>
      </p:sp>
      <p:sp>
        <p:nvSpPr>
          <p:cNvPr id="8270" name="Rectangle 8269">
            <a:extLst>
              <a:ext uri="{FF2B5EF4-FFF2-40B4-BE49-F238E27FC236}">
                <a16:creationId xmlns:a16="http://schemas.microsoft.com/office/drawing/2014/main" id="{7E9DC875-930A-06A7-169D-2C6E25A7F170}"/>
              </a:ext>
            </a:extLst>
          </p:cNvPr>
          <p:cNvSpPr/>
          <p:nvPr/>
        </p:nvSpPr>
        <p:spPr>
          <a:xfrm>
            <a:off x="9412503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AF9404-6067-303F-4847-4046A45AB835}"/>
              </a:ext>
            </a:extLst>
          </p:cNvPr>
          <p:cNvSpPr/>
          <p:nvPr/>
        </p:nvSpPr>
        <p:spPr>
          <a:xfrm>
            <a:off x="9412503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PERMISSIONED DISTRIBUTED LEDGERS</a:t>
            </a:r>
          </a:p>
        </p:txBody>
      </p:sp>
      <p:sp>
        <p:nvSpPr>
          <p:cNvPr id="8263" name="Rectangle 8262">
            <a:extLst>
              <a:ext uri="{FF2B5EF4-FFF2-40B4-BE49-F238E27FC236}">
                <a16:creationId xmlns:a16="http://schemas.microsoft.com/office/drawing/2014/main" id="{DD5FA07B-6CFB-2A42-9CFB-542CF935CBF8}"/>
              </a:ext>
            </a:extLst>
          </p:cNvPr>
          <p:cNvSpPr/>
          <p:nvPr/>
        </p:nvSpPr>
        <p:spPr>
          <a:xfrm>
            <a:off x="7240667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64" name="Rectangle 8263">
            <a:extLst>
              <a:ext uri="{FF2B5EF4-FFF2-40B4-BE49-F238E27FC236}">
                <a16:creationId xmlns:a16="http://schemas.microsoft.com/office/drawing/2014/main" id="{5E7B9DE0-90E9-A868-4916-D4E5C640D615}"/>
              </a:ext>
            </a:extLst>
          </p:cNvPr>
          <p:cNvSpPr/>
          <p:nvPr/>
        </p:nvSpPr>
        <p:spPr>
          <a:xfrm>
            <a:off x="7240667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DISTRIBUTED LEDGERS</a:t>
            </a:r>
          </a:p>
        </p:txBody>
      </p:sp>
      <p:sp>
        <p:nvSpPr>
          <p:cNvPr id="8265" name="Rectangle 8264">
            <a:extLst>
              <a:ext uri="{FF2B5EF4-FFF2-40B4-BE49-F238E27FC236}">
                <a16:creationId xmlns:a16="http://schemas.microsoft.com/office/drawing/2014/main" id="{98B5DA97-3A0C-8272-C911-A5E58CD5F8D5}"/>
              </a:ext>
            </a:extLst>
          </p:cNvPr>
          <p:cNvSpPr/>
          <p:nvPr/>
        </p:nvSpPr>
        <p:spPr>
          <a:xfrm>
            <a:off x="7240667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CONSENSUS IN DISTRIBUTED SYSTEMS AND BLOCKCHAINS</a:t>
            </a:r>
          </a:p>
        </p:txBody>
      </p:sp>
      <p:sp>
        <p:nvSpPr>
          <p:cNvPr id="8267" name="Rectangle 8266">
            <a:extLst>
              <a:ext uri="{FF2B5EF4-FFF2-40B4-BE49-F238E27FC236}">
                <a16:creationId xmlns:a16="http://schemas.microsoft.com/office/drawing/2014/main" id="{5A5EB021-ADC3-8706-0433-59B0AD4E648B}"/>
              </a:ext>
            </a:extLst>
          </p:cNvPr>
          <p:cNvSpPr/>
          <p:nvPr/>
        </p:nvSpPr>
        <p:spPr>
          <a:xfrm>
            <a:off x="7240667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PROOF OF WORK AND SECURITY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404104-20FA-71A0-07CA-B9F0DA29C9B3}"/>
              </a:ext>
            </a:extLst>
          </p:cNvPr>
          <p:cNvSpPr/>
          <p:nvPr/>
        </p:nvSpPr>
        <p:spPr>
          <a:xfrm>
            <a:off x="7240667" y="3068477"/>
            <a:ext cx="2045186" cy="297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CONSENSUS LAB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C23E7-C8D8-EE70-B941-C7229EAAF46E}"/>
              </a:ext>
            </a:extLst>
          </p:cNvPr>
          <p:cNvSpPr/>
          <p:nvPr/>
        </p:nvSpPr>
        <p:spPr>
          <a:xfrm>
            <a:off x="7240667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PROOF OF STAKE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4F3939-2D05-2306-8142-21AC6DC6C81D}"/>
              </a:ext>
            </a:extLst>
          </p:cNvPr>
          <p:cNvSpPr/>
          <p:nvPr/>
        </p:nvSpPr>
        <p:spPr>
          <a:xfrm>
            <a:off x="7240667" y="5625516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IN GEOPOLITICAL COMPETITION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715EA5-866E-EC6A-0534-2393FE7283E7}"/>
              </a:ext>
            </a:extLst>
          </p:cNvPr>
          <p:cNvSpPr/>
          <p:nvPr/>
        </p:nvSpPr>
        <p:spPr>
          <a:xfrm>
            <a:off x="9412503" y="2494882"/>
            <a:ext cx="2045186" cy="297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HYPERLEDGER LAB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EAF422-5A7B-7231-44F5-63ED16F58F0B}"/>
              </a:ext>
            </a:extLst>
          </p:cNvPr>
          <p:cNvSpPr/>
          <p:nvPr/>
        </p:nvSpPr>
        <p:spPr>
          <a:xfrm>
            <a:off x="9412503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HYPERLEDGER FABRIC</a:t>
            </a:r>
          </a:p>
        </p:txBody>
      </p:sp>
      <p:sp>
        <p:nvSpPr>
          <p:cNvPr id="8221" name="Rectangle 8220">
            <a:extLst>
              <a:ext uri="{FF2B5EF4-FFF2-40B4-BE49-F238E27FC236}">
                <a16:creationId xmlns:a16="http://schemas.microsoft.com/office/drawing/2014/main" id="{4E44DE0C-BDDE-A4B7-DB42-71379544C8CB}"/>
              </a:ext>
            </a:extLst>
          </p:cNvPr>
          <p:cNvSpPr/>
          <p:nvPr/>
        </p:nvSpPr>
        <p:spPr>
          <a:xfrm>
            <a:off x="734312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CYPHERPUNK ETHOS &amp;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DECENTRALIZED SYSTEMS</a:t>
            </a:r>
          </a:p>
        </p:txBody>
      </p:sp>
      <p:sp>
        <p:nvSpPr>
          <p:cNvPr id="8279" name="Rectangle 8278">
            <a:extLst>
              <a:ext uri="{FF2B5EF4-FFF2-40B4-BE49-F238E27FC236}">
                <a16:creationId xmlns:a16="http://schemas.microsoft.com/office/drawing/2014/main" id="{A1A1AFD9-66B0-AFD3-A87A-53BF8E5DFE2D}"/>
              </a:ext>
            </a:extLst>
          </p:cNvPr>
          <p:cNvSpPr/>
          <p:nvPr/>
        </p:nvSpPr>
        <p:spPr>
          <a:xfrm>
            <a:off x="9412503" y="2784311"/>
            <a:ext cx="2045186" cy="2887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USE CASE EXPLORATION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36A0797-9D0F-0201-7081-DF26D5A03DD4}"/>
              </a:ext>
            </a:extLst>
          </p:cNvPr>
          <p:cNvSpPr txBox="1">
            <a:spLocks/>
          </p:cNvSpPr>
          <p:nvPr/>
        </p:nvSpPr>
        <p:spPr>
          <a:xfrm>
            <a:off x="2263904" y="1086884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1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0F758D9-4CB9-B7C3-38E0-C2762847F43C}"/>
              </a:ext>
            </a:extLst>
          </p:cNvPr>
          <p:cNvSpPr txBox="1">
            <a:spLocks/>
          </p:cNvSpPr>
          <p:nvPr/>
        </p:nvSpPr>
        <p:spPr>
          <a:xfrm>
            <a:off x="4435074" y="1086884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2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2DF15F12-A3A1-C9C3-8BF8-FE123215377D}"/>
              </a:ext>
            </a:extLst>
          </p:cNvPr>
          <p:cNvSpPr txBox="1">
            <a:spLocks/>
          </p:cNvSpPr>
          <p:nvPr/>
        </p:nvSpPr>
        <p:spPr>
          <a:xfrm>
            <a:off x="6595917" y="1086884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3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EAACA47E-2DF1-7AF9-9021-B0B008081FD5}"/>
              </a:ext>
            </a:extLst>
          </p:cNvPr>
          <p:cNvSpPr txBox="1">
            <a:spLocks/>
          </p:cNvSpPr>
          <p:nvPr/>
        </p:nvSpPr>
        <p:spPr>
          <a:xfrm>
            <a:off x="8770259" y="1086884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4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24A05E80-68FA-2758-F770-CD4316770C2C}"/>
              </a:ext>
            </a:extLst>
          </p:cNvPr>
          <p:cNvSpPr txBox="1">
            <a:spLocks/>
          </p:cNvSpPr>
          <p:nvPr/>
        </p:nvSpPr>
        <p:spPr>
          <a:xfrm>
            <a:off x="10942095" y="1086884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5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55BA2808-AB7B-23D5-7CC4-F9C50A2FBEEC}"/>
              </a:ext>
            </a:extLst>
          </p:cNvPr>
          <p:cNvSpPr txBox="1">
            <a:spLocks/>
          </p:cNvSpPr>
          <p:nvPr/>
        </p:nvSpPr>
        <p:spPr>
          <a:xfrm>
            <a:off x="2263904" y="3670416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8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2C146CD0-248D-E9E7-FA5D-7B598AF7C205}"/>
              </a:ext>
            </a:extLst>
          </p:cNvPr>
          <p:cNvSpPr txBox="1">
            <a:spLocks/>
          </p:cNvSpPr>
          <p:nvPr/>
        </p:nvSpPr>
        <p:spPr>
          <a:xfrm>
            <a:off x="4435074" y="3670416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9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CA121438-C068-495F-E326-C079B100EDB9}"/>
              </a:ext>
            </a:extLst>
          </p:cNvPr>
          <p:cNvSpPr txBox="1">
            <a:spLocks/>
          </p:cNvSpPr>
          <p:nvPr/>
        </p:nvSpPr>
        <p:spPr>
          <a:xfrm>
            <a:off x="6595917" y="3670416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10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55B6B41-3784-554C-E2B8-59C7AA4F8A08}"/>
              </a:ext>
            </a:extLst>
          </p:cNvPr>
          <p:cNvSpPr txBox="1">
            <a:spLocks/>
          </p:cNvSpPr>
          <p:nvPr/>
        </p:nvSpPr>
        <p:spPr>
          <a:xfrm>
            <a:off x="8770259" y="3670416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11</a:t>
            </a: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0A3F2A1B-428B-4BB4-6D90-2EAC9C87897E}"/>
              </a:ext>
            </a:extLst>
          </p:cNvPr>
          <p:cNvSpPr txBox="1">
            <a:spLocks/>
          </p:cNvSpPr>
          <p:nvPr/>
        </p:nvSpPr>
        <p:spPr>
          <a:xfrm>
            <a:off x="10942095" y="3670416"/>
            <a:ext cx="573918" cy="50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b="1" i="1" dirty="0">
                <a:solidFill>
                  <a:schemeClr val="bg1"/>
                </a:solidFill>
                <a:latin typeface=" 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9259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008B8-5A12-9A2B-F176-9EF01F69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95AB715-5BE2-A532-183C-87ACCA3CEE4B}"/>
              </a:ext>
            </a:extLst>
          </p:cNvPr>
          <p:cNvGrpSpPr/>
          <p:nvPr/>
        </p:nvGrpSpPr>
        <p:grpSpPr>
          <a:xfrm>
            <a:off x="-36852" y="6168598"/>
            <a:ext cx="12262710" cy="689402"/>
            <a:chOff x="-36852" y="6168598"/>
            <a:chExt cx="12262710" cy="689402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2AC20884-9FBE-E59E-6F6B-499766696136}"/>
                </a:ext>
              </a:extLst>
            </p:cNvPr>
            <p:cNvSpPr/>
            <p:nvPr/>
          </p:nvSpPr>
          <p:spPr>
            <a:xfrm rot="10800000" flipH="1" flipV="1">
              <a:off x="-23220" y="6168598"/>
              <a:ext cx="12195481" cy="689402"/>
            </a:xfrm>
            <a:prstGeom prst="rtTriangle">
              <a:avLst/>
            </a:prstGeom>
            <a:gradFill flip="none" rotWithShape="1">
              <a:gsLst>
                <a:gs pos="0">
                  <a:schemeClr val="tx1"/>
                </a:gs>
                <a:gs pos="72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783C2922-9634-AD95-126A-F2FDD79A58DC}"/>
                </a:ext>
              </a:extLst>
            </p:cNvPr>
            <p:cNvSpPr/>
            <p:nvPr/>
          </p:nvSpPr>
          <p:spPr>
            <a:xfrm rot="10800000" flipV="1">
              <a:off x="7461027" y="6283569"/>
              <a:ext cx="4751514" cy="574431"/>
            </a:xfrm>
            <a:prstGeom prst="rtTriangle">
              <a:avLst/>
            </a:prstGeom>
            <a:gradFill flip="none" rotWithShape="1">
              <a:gsLst>
                <a:gs pos="0">
                  <a:srgbClr val="FFD52F"/>
                </a:gs>
                <a:gs pos="72000">
                  <a:srgbClr val="FFD52F"/>
                </a:gs>
                <a:gs pos="100000">
                  <a:srgbClr val="FFD52F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30AA8-3B59-EBB2-513D-B7D8A2B45597}"/>
                </a:ext>
              </a:extLst>
            </p:cNvPr>
            <p:cNvSpPr/>
            <p:nvPr/>
          </p:nvSpPr>
          <p:spPr>
            <a:xfrm rot="10339120">
              <a:off x="7582903" y="6516166"/>
              <a:ext cx="4642955" cy="77059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71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0EACC0-4D5E-E6DC-E78C-25F996D8EB23}"/>
                </a:ext>
              </a:extLst>
            </p:cNvPr>
            <p:cNvSpPr/>
            <p:nvPr/>
          </p:nvSpPr>
          <p:spPr>
            <a:xfrm rot="11017813" flipH="1">
              <a:off x="-36852" y="6476722"/>
              <a:ext cx="11975871" cy="73152"/>
            </a:xfrm>
            <a:prstGeom prst="rect">
              <a:avLst/>
            </a:prstGeom>
            <a:gradFill flip="none" rotWithShape="1">
              <a:gsLst>
                <a:gs pos="0">
                  <a:srgbClr val="FFD530"/>
                </a:gs>
                <a:gs pos="71000">
                  <a:srgbClr val="FFD530"/>
                </a:gs>
                <a:gs pos="100000">
                  <a:srgbClr val="FFD530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92"/>
            </a:p>
          </p:txBody>
        </p:sp>
      </p:grpSp>
      <p:sp>
        <p:nvSpPr>
          <p:cNvPr id="62" name="Title 2">
            <a:extLst>
              <a:ext uri="{FF2B5EF4-FFF2-40B4-BE49-F238E27FC236}">
                <a16:creationId xmlns:a16="http://schemas.microsoft.com/office/drawing/2014/main" id="{DB150738-9095-9AC7-8D43-D45D4E8B47D9}"/>
              </a:ext>
            </a:extLst>
          </p:cNvPr>
          <p:cNvSpPr txBox="1">
            <a:spLocks/>
          </p:cNvSpPr>
          <p:nvPr/>
        </p:nvSpPr>
        <p:spPr>
          <a:xfrm>
            <a:off x="3014505" y="0"/>
            <a:ext cx="8936895" cy="1058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b="1" i="1">
                <a:solidFill>
                  <a:schemeClr val="bg1"/>
                </a:solidFill>
                <a:latin typeface=" Arial"/>
                <a:cs typeface="Calibri"/>
              </a:rPr>
              <a:t>Organization</a:t>
            </a:r>
          </a:p>
          <a:p>
            <a:pPr algn="r"/>
            <a:r>
              <a:rPr lang="en-US" sz="2800" b="1" i="1">
                <a:solidFill>
                  <a:schemeClr val="bg1"/>
                </a:solidFill>
                <a:latin typeface=" Arial"/>
                <a:cs typeface="Calibri"/>
              </a:rPr>
              <a:t>Overview</a:t>
            </a:r>
            <a:endParaRPr lang="en-US" sz="4400" b="1" i="1">
              <a:solidFill>
                <a:schemeClr val="bg1"/>
              </a:solidFill>
              <a:latin typeface=" 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DEE1ED2-4E9B-52C0-11DF-9EAFA932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4747"/>
            <a:ext cx="4114800" cy="365125"/>
          </a:xfrm>
        </p:spPr>
        <p:txBody>
          <a:bodyPr/>
          <a:lstStyle/>
          <a:p>
            <a:r>
              <a:rPr lang="en-US"/>
              <a:t>UNCLASSIFIED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BA2968-339C-1B62-A6CE-B205653A4E76}"/>
              </a:ext>
            </a:extLst>
          </p:cNvPr>
          <p:cNvSpPr/>
          <p:nvPr/>
        </p:nvSpPr>
        <p:spPr>
          <a:xfrm>
            <a:off x="2275" y="-14310"/>
            <a:ext cx="12192000" cy="10550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9302C8-CDD6-0728-F419-026273C95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75" y="-16614"/>
            <a:ext cx="2773905" cy="106099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6A2DA8EA-CB54-3BE1-8B67-AE206DA44BD7}"/>
              </a:ext>
            </a:extLst>
          </p:cNvPr>
          <p:cNvSpPr txBox="1">
            <a:spLocks/>
          </p:cNvSpPr>
          <p:nvPr/>
        </p:nvSpPr>
        <p:spPr>
          <a:xfrm>
            <a:off x="3016780" y="-14310"/>
            <a:ext cx="8936895" cy="1058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b="1" i="1" dirty="0">
                <a:solidFill>
                  <a:schemeClr val="bg1"/>
                </a:solidFill>
                <a:latin typeface=" Arial"/>
                <a:cs typeface="Calibri"/>
              </a:rPr>
              <a:t>Blockchain Technology </a:t>
            </a:r>
          </a:p>
          <a:p>
            <a:pPr algn="r"/>
            <a:r>
              <a:rPr lang="en-US" sz="2800" b="1" i="1" dirty="0">
                <a:solidFill>
                  <a:schemeClr val="bg1"/>
                </a:solidFill>
                <a:latin typeface=" Arial"/>
                <a:cs typeface="Calibri"/>
              </a:rPr>
              <a:t>Course Schedule</a:t>
            </a:r>
            <a:endParaRPr lang="en-US" sz="4400" b="1" i="1" dirty="0">
              <a:solidFill>
                <a:schemeClr val="bg1"/>
              </a:solidFill>
              <a:latin typeface=" Arial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D5C1609-624E-7EB6-7154-AD5A403602E2}"/>
              </a:ext>
            </a:extLst>
          </p:cNvPr>
          <p:cNvGrpSpPr/>
          <p:nvPr/>
        </p:nvGrpSpPr>
        <p:grpSpPr>
          <a:xfrm>
            <a:off x="670066" y="1093234"/>
            <a:ext cx="2173678" cy="2453833"/>
            <a:chOff x="2144700" y="1194780"/>
            <a:chExt cx="1971869" cy="245383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9C8E110-891F-C32A-0752-F2952FE2BEDB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itle 2">
              <a:extLst>
                <a:ext uri="{FF2B5EF4-FFF2-40B4-BE49-F238E27FC236}">
                  <a16:creationId xmlns:a16="http://schemas.microsoft.com/office/drawing/2014/main" id="{AECD8D0B-81B6-80F8-FC31-DD94E60F3895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MONDAY</a:t>
              </a:r>
            </a:p>
          </p:txBody>
        </p:sp>
        <p:sp>
          <p:nvSpPr>
            <p:cNvPr id="70" name="Title 2">
              <a:extLst>
                <a:ext uri="{FF2B5EF4-FFF2-40B4-BE49-F238E27FC236}">
                  <a16:creationId xmlns:a16="http://schemas.microsoft.com/office/drawing/2014/main" id="{264B7123-91C1-8CA3-D717-C6389E6F55B0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CE7BB93-AAB9-9A55-EA49-61853F27B64A}"/>
              </a:ext>
            </a:extLst>
          </p:cNvPr>
          <p:cNvGrpSpPr/>
          <p:nvPr/>
        </p:nvGrpSpPr>
        <p:grpSpPr>
          <a:xfrm>
            <a:off x="2841236" y="1093234"/>
            <a:ext cx="2173678" cy="2453833"/>
            <a:chOff x="2144700" y="1194780"/>
            <a:chExt cx="1971869" cy="2453833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741245C-8201-B3E5-6201-5A0EF8B1DCCC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itle 2">
              <a:extLst>
                <a:ext uri="{FF2B5EF4-FFF2-40B4-BE49-F238E27FC236}">
                  <a16:creationId xmlns:a16="http://schemas.microsoft.com/office/drawing/2014/main" id="{4061BA5F-8041-C046-92C7-7F5458542EA9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TUESDAY</a:t>
              </a:r>
            </a:p>
          </p:txBody>
        </p:sp>
        <p:sp>
          <p:nvSpPr>
            <p:cNvPr id="152" name="Title 2">
              <a:extLst>
                <a:ext uri="{FF2B5EF4-FFF2-40B4-BE49-F238E27FC236}">
                  <a16:creationId xmlns:a16="http://schemas.microsoft.com/office/drawing/2014/main" id="{12F061F9-4CE8-5913-91B7-8DEF79379C27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615E8EB-B64A-F5AD-5B3F-A903BCB0E3DC}"/>
              </a:ext>
            </a:extLst>
          </p:cNvPr>
          <p:cNvGrpSpPr/>
          <p:nvPr/>
        </p:nvGrpSpPr>
        <p:grpSpPr>
          <a:xfrm>
            <a:off x="5002079" y="1093234"/>
            <a:ext cx="2173678" cy="2453833"/>
            <a:chOff x="2144700" y="1194780"/>
            <a:chExt cx="1971869" cy="245383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6435F63-C20C-9A83-52CF-A82CD7DFD35B}"/>
                </a:ext>
              </a:extLst>
            </p:cNvPr>
            <p:cNvSpPr/>
            <p:nvPr/>
          </p:nvSpPr>
          <p:spPr>
            <a:xfrm>
              <a:off x="2146975" y="1275745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itle 2">
              <a:extLst>
                <a:ext uri="{FF2B5EF4-FFF2-40B4-BE49-F238E27FC236}">
                  <a16:creationId xmlns:a16="http://schemas.microsoft.com/office/drawing/2014/main" id="{8AFC4F58-D3E4-D817-7ED9-0A9DB4CD0DFD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WEDNESDAY</a:t>
              </a:r>
            </a:p>
          </p:txBody>
        </p:sp>
        <p:sp>
          <p:nvSpPr>
            <p:cNvPr id="156" name="Title 2">
              <a:extLst>
                <a:ext uri="{FF2B5EF4-FFF2-40B4-BE49-F238E27FC236}">
                  <a16:creationId xmlns:a16="http://schemas.microsoft.com/office/drawing/2014/main" id="{E442769F-1BAA-0501-5A16-3F8A0FD4F616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75180BD-CA52-32FC-20CE-6D07E4BFB228}"/>
              </a:ext>
            </a:extLst>
          </p:cNvPr>
          <p:cNvGrpSpPr/>
          <p:nvPr/>
        </p:nvGrpSpPr>
        <p:grpSpPr>
          <a:xfrm>
            <a:off x="7176421" y="1093234"/>
            <a:ext cx="2173678" cy="2453832"/>
            <a:chOff x="2144700" y="1194780"/>
            <a:chExt cx="1971869" cy="2453832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6225E038-2BF2-FCF4-0244-F6598E4F5690}"/>
                </a:ext>
              </a:extLst>
            </p:cNvPr>
            <p:cNvSpPr/>
            <p:nvPr/>
          </p:nvSpPr>
          <p:spPr>
            <a:xfrm>
              <a:off x="2146975" y="1275744"/>
              <a:ext cx="1969594" cy="237286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itle 2">
              <a:extLst>
                <a:ext uri="{FF2B5EF4-FFF2-40B4-BE49-F238E27FC236}">
                  <a16:creationId xmlns:a16="http://schemas.microsoft.com/office/drawing/2014/main" id="{9A7D3065-D01B-7FAB-2669-1E2FB5A92FA7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THURSDAY</a:t>
              </a:r>
            </a:p>
          </p:txBody>
        </p:sp>
        <p:sp>
          <p:nvSpPr>
            <p:cNvPr id="160" name="Title 2">
              <a:extLst>
                <a:ext uri="{FF2B5EF4-FFF2-40B4-BE49-F238E27FC236}">
                  <a16:creationId xmlns:a16="http://schemas.microsoft.com/office/drawing/2014/main" id="{5067F990-2FAE-2188-F7F0-9104FE9F63A7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9C710FA-189A-4E9E-EBAE-770216145A08}"/>
              </a:ext>
            </a:extLst>
          </p:cNvPr>
          <p:cNvGrpSpPr/>
          <p:nvPr/>
        </p:nvGrpSpPr>
        <p:grpSpPr>
          <a:xfrm>
            <a:off x="9348257" y="1093234"/>
            <a:ext cx="2173678" cy="2453831"/>
            <a:chOff x="2144700" y="1194780"/>
            <a:chExt cx="1971869" cy="245383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AC2D0B3-1B1F-F9FE-5209-0EA08D9D8647}"/>
                </a:ext>
              </a:extLst>
            </p:cNvPr>
            <p:cNvSpPr/>
            <p:nvPr/>
          </p:nvSpPr>
          <p:spPr>
            <a:xfrm>
              <a:off x="2146975" y="1275744"/>
              <a:ext cx="1969594" cy="237286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itle 2">
              <a:extLst>
                <a:ext uri="{FF2B5EF4-FFF2-40B4-BE49-F238E27FC236}">
                  <a16:creationId xmlns:a16="http://schemas.microsoft.com/office/drawing/2014/main" id="{FD2BB8F9-E7ED-B688-AEA6-521AEF09AF6F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FRIDAY</a:t>
              </a:r>
            </a:p>
          </p:txBody>
        </p:sp>
        <p:sp>
          <p:nvSpPr>
            <p:cNvPr id="164" name="Title 2">
              <a:extLst>
                <a:ext uri="{FF2B5EF4-FFF2-40B4-BE49-F238E27FC236}">
                  <a16:creationId xmlns:a16="http://schemas.microsoft.com/office/drawing/2014/main" id="{2C448B02-0E60-D79E-7FB2-A0CD6DC9D1C4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5395277-779A-AD1C-CCD2-0B48971A35AB}"/>
              </a:ext>
            </a:extLst>
          </p:cNvPr>
          <p:cNvGrpSpPr/>
          <p:nvPr/>
        </p:nvGrpSpPr>
        <p:grpSpPr>
          <a:xfrm>
            <a:off x="670066" y="3676766"/>
            <a:ext cx="2173678" cy="2455483"/>
            <a:chOff x="2144700" y="1194780"/>
            <a:chExt cx="1971869" cy="2455483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8486D26-4CDE-5FDD-1123-43EA024A0AB1}"/>
                </a:ext>
              </a:extLst>
            </p:cNvPr>
            <p:cNvSpPr/>
            <p:nvPr/>
          </p:nvSpPr>
          <p:spPr>
            <a:xfrm>
              <a:off x="2146975" y="1275744"/>
              <a:ext cx="1969594" cy="2374519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itle 2">
              <a:extLst>
                <a:ext uri="{FF2B5EF4-FFF2-40B4-BE49-F238E27FC236}">
                  <a16:creationId xmlns:a16="http://schemas.microsoft.com/office/drawing/2014/main" id="{4EDB1D41-D8AD-0644-A3C3-19E255CF0A8E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MONDAY</a:t>
              </a:r>
            </a:p>
          </p:txBody>
        </p:sp>
        <p:sp>
          <p:nvSpPr>
            <p:cNvPr id="168" name="Title 2">
              <a:extLst>
                <a:ext uri="{FF2B5EF4-FFF2-40B4-BE49-F238E27FC236}">
                  <a16:creationId xmlns:a16="http://schemas.microsoft.com/office/drawing/2014/main" id="{F535A3F9-025E-BEA3-A595-8B5C7917B81D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169D397-67C1-2434-7027-D7F373DA404A}"/>
              </a:ext>
            </a:extLst>
          </p:cNvPr>
          <p:cNvGrpSpPr/>
          <p:nvPr/>
        </p:nvGrpSpPr>
        <p:grpSpPr>
          <a:xfrm>
            <a:off x="2841236" y="3676766"/>
            <a:ext cx="2173678" cy="2455483"/>
            <a:chOff x="2144700" y="1194780"/>
            <a:chExt cx="1971869" cy="2455483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571A83-ED08-2B7B-5905-B98F939D2815}"/>
                </a:ext>
              </a:extLst>
            </p:cNvPr>
            <p:cNvSpPr/>
            <p:nvPr/>
          </p:nvSpPr>
          <p:spPr>
            <a:xfrm>
              <a:off x="2146975" y="1275745"/>
              <a:ext cx="1969594" cy="237451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Title 2">
              <a:extLst>
                <a:ext uri="{FF2B5EF4-FFF2-40B4-BE49-F238E27FC236}">
                  <a16:creationId xmlns:a16="http://schemas.microsoft.com/office/drawing/2014/main" id="{FC1F8DD9-86ED-AB24-076A-CAF8E240AF64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TUESDAY</a:t>
              </a:r>
            </a:p>
          </p:txBody>
        </p:sp>
        <p:sp>
          <p:nvSpPr>
            <p:cNvPr id="172" name="Title 2">
              <a:extLst>
                <a:ext uri="{FF2B5EF4-FFF2-40B4-BE49-F238E27FC236}">
                  <a16:creationId xmlns:a16="http://schemas.microsoft.com/office/drawing/2014/main" id="{4B21633B-89E3-BC8D-DBC4-BA10406F676C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114785B-7611-4AF7-8962-804BECA85867}"/>
              </a:ext>
            </a:extLst>
          </p:cNvPr>
          <p:cNvGrpSpPr/>
          <p:nvPr/>
        </p:nvGrpSpPr>
        <p:grpSpPr>
          <a:xfrm>
            <a:off x="5002079" y="3676766"/>
            <a:ext cx="2173678" cy="2455483"/>
            <a:chOff x="2144700" y="1194780"/>
            <a:chExt cx="1971869" cy="2455483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4F31D67-C23B-CAE2-8E9C-ED2CA4B1E7CC}"/>
                </a:ext>
              </a:extLst>
            </p:cNvPr>
            <p:cNvSpPr/>
            <p:nvPr/>
          </p:nvSpPr>
          <p:spPr>
            <a:xfrm>
              <a:off x="2146975" y="1275745"/>
              <a:ext cx="1969594" cy="2374518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itle 2">
              <a:extLst>
                <a:ext uri="{FF2B5EF4-FFF2-40B4-BE49-F238E27FC236}">
                  <a16:creationId xmlns:a16="http://schemas.microsoft.com/office/drawing/2014/main" id="{AAF99223-053E-E453-AABD-2F31D79BC145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WEDNESDAY</a:t>
              </a:r>
            </a:p>
          </p:txBody>
        </p:sp>
        <p:sp>
          <p:nvSpPr>
            <p:cNvPr id="176" name="Title 2">
              <a:extLst>
                <a:ext uri="{FF2B5EF4-FFF2-40B4-BE49-F238E27FC236}">
                  <a16:creationId xmlns:a16="http://schemas.microsoft.com/office/drawing/2014/main" id="{1BF3251A-BDA7-24FB-D86A-28ECFA2D4944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D77B3C7-998F-B074-2DAD-358D9D61C119}"/>
              </a:ext>
            </a:extLst>
          </p:cNvPr>
          <p:cNvGrpSpPr/>
          <p:nvPr/>
        </p:nvGrpSpPr>
        <p:grpSpPr>
          <a:xfrm>
            <a:off x="7176421" y="3676766"/>
            <a:ext cx="2173678" cy="2455482"/>
            <a:chOff x="2144700" y="1194780"/>
            <a:chExt cx="1971869" cy="2455482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F4963AA-2DB1-7D3A-7C95-2376205E6F09}"/>
                </a:ext>
              </a:extLst>
            </p:cNvPr>
            <p:cNvSpPr/>
            <p:nvPr/>
          </p:nvSpPr>
          <p:spPr>
            <a:xfrm>
              <a:off x="2146975" y="1275745"/>
              <a:ext cx="1969594" cy="237451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Title 2">
              <a:extLst>
                <a:ext uri="{FF2B5EF4-FFF2-40B4-BE49-F238E27FC236}">
                  <a16:creationId xmlns:a16="http://schemas.microsoft.com/office/drawing/2014/main" id="{73E21306-5A22-F92B-2126-3C7C2AA30B1F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THURSDAY</a:t>
              </a:r>
            </a:p>
          </p:txBody>
        </p:sp>
        <p:sp>
          <p:nvSpPr>
            <p:cNvPr id="180" name="Title 2">
              <a:extLst>
                <a:ext uri="{FF2B5EF4-FFF2-40B4-BE49-F238E27FC236}">
                  <a16:creationId xmlns:a16="http://schemas.microsoft.com/office/drawing/2014/main" id="{931B2E06-DD84-E454-EC71-6627A23336BF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D8C7306-83D6-ECAC-06D2-0DD815C4D236}"/>
              </a:ext>
            </a:extLst>
          </p:cNvPr>
          <p:cNvGrpSpPr/>
          <p:nvPr/>
        </p:nvGrpSpPr>
        <p:grpSpPr>
          <a:xfrm>
            <a:off x="9348257" y="3676766"/>
            <a:ext cx="2173678" cy="2455482"/>
            <a:chOff x="2144700" y="1194780"/>
            <a:chExt cx="1971869" cy="2455482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6065512-D070-7178-8217-B09E03FE7209}"/>
                </a:ext>
              </a:extLst>
            </p:cNvPr>
            <p:cNvSpPr/>
            <p:nvPr/>
          </p:nvSpPr>
          <p:spPr>
            <a:xfrm>
              <a:off x="2146975" y="1275745"/>
              <a:ext cx="1969594" cy="2374517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Title 2">
              <a:extLst>
                <a:ext uri="{FF2B5EF4-FFF2-40B4-BE49-F238E27FC236}">
                  <a16:creationId xmlns:a16="http://schemas.microsoft.com/office/drawing/2014/main" id="{497E5F8A-1616-61CA-8299-08ED019E55AB}"/>
                </a:ext>
              </a:extLst>
            </p:cNvPr>
            <p:cNvSpPr txBox="1">
              <a:spLocks/>
            </p:cNvSpPr>
            <p:nvPr/>
          </p:nvSpPr>
          <p:spPr>
            <a:xfrm>
              <a:off x="2144700" y="1194780"/>
              <a:ext cx="1502740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b="1" i="1" dirty="0">
                  <a:solidFill>
                    <a:srgbClr val="FFD52F"/>
                  </a:solidFill>
                  <a:latin typeface=" Arial"/>
                </a:rPr>
                <a:t>FRIDAY</a:t>
              </a:r>
            </a:p>
          </p:txBody>
        </p:sp>
        <p:sp>
          <p:nvSpPr>
            <p:cNvPr id="184" name="Title 2">
              <a:extLst>
                <a:ext uri="{FF2B5EF4-FFF2-40B4-BE49-F238E27FC236}">
                  <a16:creationId xmlns:a16="http://schemas.microsoft.com/office/drawing/2014/main" id="{9953D214-EDC5-60B4-6699-7D82BF2ABB8E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1194780"/>
              <a:ext cx="520634" cy="5086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endParaRPr lang="en-US" sz="1800" b="1" i="1" dirty="0">
                <a:solidFill>
                  <a:schemeClr val="bg1"/>
                </a:solidFill>
                <a:latin typeface=" Arial"/>
              </a:endParaRPr>
            </a:p>
          </p:txBody>
        </p:sp>
      </p:grpSp>
      <p:sp>
        <p:nvSpPr>
          <p:cNvPr id="8220" name="Rectangle 8219">
            <a:extLst>
              <a:ext uri="{FF2B5EF4-FFF2-40B4-BE49-F238E27FC236}">
                <a16:creationId xmlns:a16="http://schemas.microsoft.com/office/drawing/2014/main" id="{F7B52302-D8FF-3102-9B2D-B8D6BDBDDD4C}"/>
              </a:ext>
            </a:extLst>
          </p:cNvPr>
          <p:cNvSpPr/>
          <p:nvPr/>
        </p:nvSpPr>
        <p:spPr>
          <a:xfrm>
            <a:off x="734312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WELCOME + PRETEST</a:t>
            </a:r>
          </a:p>
        </p:txBody>
      </p:sp>
      <p:sp>
        <p:nvSpPr>
          <p:cNvPr id="8222" name="Rectangle 8221">
            <a:extLst>
              <a:ext uri="{FF2B5EF4-FFF2-40B4-BE49-F238E27FC236}">
                <a16:creationId xmlns:a16="http://schemas.microsoft.com/office/drawing/2014/main" id="{55775D59-CBE5-DBFA-6091-5A73A803FB5D}"/>
              </a:ext>
            </a:extLst>
          </p:cNvPr>
          <p:cNvSpPr/>
          <p:nvPr/>
        </p:nvSpPr>
        <p:spPr>
          <a:xfrm>
            <a:off x="734312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MONEY INSTITUTIONS &amp;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CASE FOR ALTERNATIVES</a:t>
            </a:r>
          </a:p>
        </p:txBody>
      </p:sp>
      <p:sp>
        <p:nvSpPr>
          <p:cNvPr id="8216" name="Rectangle 8215">
            <a:extLst>
              <a:ext uri="{FF2B5EF4-FFF2-40B4-BE49-F238E27FC236}">
                <a16:creationId xmlns:a16="http://schemas.microsoft.com/office/drawing/2014/main" id="{0360F2DA-6DA9-C16B-7120-9147AF3F8477}"/>
              </a:ext>
            </a:extLst>
          </p:cNvPr>
          <p:cNvSpPr/>
          <p:nvPr/>
        </p:nvSpPr>
        <p:spPr>
          <a:xfrm>
            <a:off x="734312" y="2784311"/>
            <a:ext cx="2045186" cy="148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SOCIAL TRUST LAB</a:t>
            </a:r>
          </a:p>
        </p:txBody>
      </p:sp>
      <p:sp>
        <p:nvSpPr>
          <p:cNvPr id="8229" name="Rectangle 8228">
            <a:extLst>
              <a:ext uri="{FF2B5EF4-FFF2-40B4-BE49-F238E27FC236}">
                <a16:creationId xmlns:a16="http://schemas.microsoft.com/office/drawing/2014/main" id="{15F3B80B-67B5-FE47-A393-4078046AA92C}"/>
              </a:ext>
            </a:extLst>
          </p:cNvPr>
          <p:cNvSpPr/>
          <p:nvPr/>
        </p:nvSpPr>
        <p:spPr>
          <a:xfrm>
            <a:off x="734312" y="293765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SOCIAL TRUST AND DISTRIBUTED SYSTEMS</a:t>
            </a:r>
          </a:p>
        </p:txBody>
      </p:sp>
      <p:sp>
        <p:nvSpPr>
          <p:cNvPr id="8230" name="Rectangle 8229">
            <a:extLst>
              <a:ext uri="{FF2B5EF4-FFF2-40B4-BE49-F238E27FC236}">
                <a16:creationId xmlns:a16="http://schemas.microsoft.com/office/drawing/2014/main" id="{467DA843-D7B8-3064-031A-4313CF8011F0}"/>
              </a:ext>
            </a:extLst>
          </p:cNvPr>
          <p:cNvSpPr/>
          <p:nvPr/>
        </p:nvSpPr>
        <p:spPr>
          <a:xfrm>
            <a:off x="734312" y="3228082"/>
            <a:ext cx="2045186" cy="1348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BYZANTINE GENERALS LAB</a:t>
            </a:r>
          </a:p>
        </p:txBody>
      </p:sp>
      <p:sp>
        <p:nvSpPr>
          <p:cNvPr id="8228" name="Rectangle 8227">
            <a:extLst>
              <a:ext uri="{FF2B5EF4-FFF2-40B4-BE49-F238E27FC236}">
                <a16:creationId xmlns:a16="http://schemas.microsoft.com/office/drawing/2014/main" id="{106ECFC6-5C53-4AB2-0C42-FBC49866B26E}"/>
              </a:ext>
            </a:extLst>
          </p:cNvPr>
          <p:cNvSpPr/>
          <p:nvPr/>
        </p:nvSpPr>
        <p:spPr>
          <a:xfrm>
            <a:off x="734312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AT A GLANCE</a:t>
            </a:r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68083B4E-15B1-593A-A2A7-A95EF615918C}"/>
              </a:ext>
            </a:extLst>
          </p:cNvPr>
          <p:cNvSpPr/>
          <p:nvPr/>
        </p:nvSpPr>
        <p:spPr>
          <a:xfrm>
            <a:off x="2905482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48" name="Rectangle 8247">
            <a:extLst>
              <a:ext uri="{FF2B5EF4-FFF2-40B4-BE49-F238E27FC236}">
                <a16:creationId xmlns:a16="http://schemas.microsoft.com/office/drawing/2014/main" id="{CCE59032-714B-4F96-B263-0DFE91622200}"/>
              </a:ext>
            </a:extLst>
          </p:cNvPr>
          <p:cNvSpPr/>
          <p:nvPr/>
        </p:nvSpPr>
        <p:spPr>
          <a:xfrm>
            <a:off x="2905482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CRYPTOGRAPHY INTRODUCTION</a:t>
            </a:r>
          </a:p>
        </p:txBody>
      </p:sp>
      <p:sp>
        <p:nvSpPr>
          <p:cNvPr id="8249" name="Rectangle 8248">
            <a:extLst>
              <a:ext uri="{FF2B5EF4-FFF2-40B4-BE49-F238E27FC236}">
                <a16:creationId xmlns:a16="http://schemas.microsoft.com/office/drawing/2014/main" id="{E0EF2929-B8DA-764E-A1E4-D915175518CA}"/>
              </a:ext>
            </a:extLst>
          </p:cNvPr>
          <p:cNvSpPr/>
          <p:nvPr/>
        </p:nvSpPr>
        <p:spPr>
          <a:xfrm>
            <a:off x="2905482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HASHING AND MERKLE TREES</a:t>
            </a:r>
          </a:p>
        </p:txBody>
      </p:sp>
      <p:sp>
        <p:nvSpPr>
          <p:cNvPr id="8252" name="Rectangle 8251">
            <a:extLst>
              <a:ext uri="{FF2B5EF4-FFF2-40B4-BE49-F238E27FC236}">
                <a16:creationId xmlns:a16="http://schemas.microsoft.com/office/drawing/2014/main" id="{3516C244-0E73-474F-82D4-3514E12AB375}"/>
              </a:ext>
            </a:extLst>
          </p:cNvPr>
          <p:cNvSpPr/>
          <p:nvPr/>
        </p:nvSpPr>
        <p:spPr>
          <a:xfrm>
            <a:off x="2905482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SYMMETRIC ENCRYPTION</a:t>
            </a:r>
          </a:p>
        </p:txBody>
      </p:sp>
      <p:sp>
        <p:nvSpPr>
          <p:cNvPr id="8254" name="Rectangle 8253">
            <a:extLst>
              <a:ext uri="{FF2B5EF4-FFF2-40B4-BE49-F238E27FC236}">
                <a16:creationId xmlns:a16="http://schemas.microsoft.com/office/drawing/2014/main" id="{B9BB6924-5F39-4342-B2E1-007AEA1FBDA6}"/>
              </a:ext>
            </a:extLst>
          </p:cNvPr>
          <p:cNvSpPr/>
          <p:nvPr/>
        </p:nvSpPr>
        <p:spPr>
          <a:xfrm>
            <a:off x="2905482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ASYMMETRIC ENCRYPTION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DIGITAL SIGNATURES</a:t>
            </a:r>
          </a:p>
        </p:txBody>
      </p:sp>
      <p:sp>
        <p:nvSpPr>
          <p:cNvPr id="8255" name="Rectangle 8254">
            <a:extLst>
              <a:ext uri="{FF2B5EF4-FFF2-40B4-BE49-F238E27FC236}">
                <a16:creationId xmlns:a16="http://schemas.microsoft.com/office/drawing/2014/main" id="{C935A32C-C083-025C-3700-AB04217DC47D}"/>
              </a:ext>
            </a:extLst>
          </p:cNvPr>
          <p:cNvSpPr/>
          <p:nvPr/>
        </p:nvSpPr>
        <p:spPr>
          <a:xfrm>
            <a:off x="2905482" y="3077653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CRYPTO LAB</a:t>
            </a:r>
          </a:p>
        </p:txBody>
      </p:sp>
      <p:sp>
        <p:nvSpPr>
          <p:cNvPr id="8256" name="Rectangle 8255">
            <a:extLst>
              <a:ext uri="{FF2B5EF4-FFF2-40B4-BE49-F238E27FC236}">
                <a16:creationId xmlns:a16="http://schemas.microsoft.com/office/drawing/2014/main" id="{2BA5FF5A-4491-7DCE-B7D7-5F8DA78C38BD}"/>
              </a:ext>
            </a:extLst>
          </p:cNvPr>
          <p:cNvSpPr/>
          <p:nvPr/>
        </p:nvSpPr>
        <p:spPr>
          <a:xfrm>
            <a:off x="5066325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57" name="Rectangle 8256">
            <a:extLst>
              <a:ext uri="{FF2B5EF4-FFF2-40B4-BE49-F238E27FC236}">
                <a16:creationId xmlns:a16="http://schemas.microsoft.com/office/drawing/2014/main" id="{035B69DC-9C3F-E9F7-1B80-14DFB0BBFDF4}"/>
              </a:ext>
            </a:extLst>
          </p:cNvPr>
          <p:cNvSpPr/>
          <p:nvPr/>
        </p:nvSpPr>
        <p:spPr>
          <a:xfrm>
            <a:off x="5066325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CRYPTOGRAPHIC ASSUMPTIONS AND CHALLENGES</a:t>
            </a:r>
          </a:p>
        </p:txBody>
      </p:sp>
      <p:sp>
        <p:nvSpPr>
          <p:cNvPr id="8258" name="Rectangle 8257">
            <a:extLst>
              <a:ext uri="{FF2B5EF4-FFF2-40B4-BE49-F238E27FC236}">
                <a16:creationId xmlns:a16="http://schemas.microsoft.com/office/drawing/2014/main" id="{263130EF-659B-25CA-0B88-903C03630E78}"/>
              </a:ext>
            </a:extLst>
          </p:cNvPr>
          <p:cNvSpPr/>
          <p:nvPr/>
        </p:nvSpPr>
        <p:spPr>
          <a:xfrm>
            <a:off x="5066325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DISTRIBUTED SYSTEMS</a:t>
            </a:r>
          </a:p>
        </p:txBody>
      </p:sp>
      <p:sp>
        <p:nvSpPr>
          <p:cNvPr id="8260" name="Rectangle 8259">
            <a:extLst>
              <a:ext uri="{FF2B5EF4-FFF2-40B4-BE49-F238E27FC236}">
                <a16:creationId xmlns:a16="http://schemas.microsoft.com/office/drawing/2014/main" id="{2AF3B02E-5F64-7CEE-1A79-D78E0DF6FB34}"/>
              </a:ext>
            </a:extLst>
          </p:cNvPr>
          <p:cNvSpPr/>
          <p:nvPr/>
        </p:nvSpPr>
        <p:spPr>
          <a:xfrm>
            <a:off x="5066325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P2P DESIGN</a:t>
            </a:r>
          </a:p>
        </p:txBody>
      </p:sp>
      <p:sp>
        <p:nvSpPr>
          <p:cNvPr id="8261" name="Rectangle 8260">
            <a:extLst>
              <a:ext uri="{FF2B5EF4-FFF2-40B4-BE49-F238E27FC236}">
                <a16:creationId xmlns:a16="http://schemas.microsoft.com/office/drawing/2014/main" id="{160107E5-994C-7B09-12DB-701A0FB73DA7}"/>
              </a:ext>
            </a:extLst>
          </p:cNvPr>
          <p:cNvSpPr/>
          <p:nvPr/>
        </p:nvSpPr>
        <p:spPr>
          <a:xfrm>
            <a:off x="5066325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TRUST AND P2P</a:t>
            </a:r>
          </a:p>
        </p:txBody>
      </p:sp>
      <p:sp>
        <p:nvSpPr>
          <p:cNvPr id="8262" name="Rectangle 8261">
            <a:extLst>
              <a:ext uri="{FF2B5EF4-FFF2-40B4-BE49-F238E27FC236}">
                <a16:creationId xmlns:a16="http://schemas.microsoft.com/office/drawing/2014/main" id="{9428C139-6301-B409-FE5E-D8CC38023FBF}"/>
              </a:ext>
            </a:extLst>
          </p:cNvPr>
          <p:cNvSpPr/>
          <p:nvPr/>
        </p:nvSpPr>
        <p:spPr>
          <a:xfrm>
            <a:off x="5066325" y="3077653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P2P LAB</a:t>
            </a:r>
          </a:p>
        </p:txBody>
      </p:sp>
      <p:sp>
        <p:nvSpPr>
          <p:cNvPr id="8280" name="Rectangle 8279">
            <a:extLst>
              <a:ext uri="{FF2B5EF4-FFF2-40B4-BE49-F238E27FC236}">
                <a16:creationId xmlns:a16="http://schemas.microsoft.com/office/drawing/2014/main" id="{86F92BEE-DDB6-029E-BED7-E3C388611CDD}"/>
              </a:ext>
            </a:extLst>
          </p:cNvPr>
          <p:cNvSpPr/>
          <p:nvPr/>
        </p:nvSpPr>
        <p:spPr>
          <a:xfrm>
            <a:off x="734312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81" name="Rectangle 8280">
            <a:extLst>
              <a:ext uri="{FF2B5EF4-FFF2-40B4-BE49-F238E27FC236}">
                <a16:creationId xmlns:a16="http://schemas.microsoft.com/office/drawing/2014/main" id="{79C6D1BA-382F-AD1B-7D95-7FB675077D48}"/>
              </a:ext>
            </a:extLst>
          </p:cNvPr>
          <p:cNvSpPr/>
          <p:nvPr/>
        </p:nvSpPr>
        <p:spPr>
          <a:xfrm>
            <a:off x="734312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ORIGINS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MECHANICS</a:t>
            </a:r>
          </a:p>
        </p:txBody>
      </p:sp>
      <p:sp>
        <p:nvSpPr>
          <p:cNvPr id="8282" name="Rectangle 8281">
            <a:extLst>
              <a:ext uri="{FF2B5EF4-FFF2-40B4-BE49-F238E27FC236}">
                <a16:creationId xmlns:a16="http://schemas.microsoft.com/office/drawing/2014/main" id="{AF0FA141-06B1-F904-5EE9-6322B391387E}"/>
              </a:ext>
            </a:extLst>
          </p:cNvPr>
          <p:cNvSpPr/>
          <p:nvPr/>
        </p:nvSpPr>
        <p:spPr>
          <a:xfrm>
            <a:off x="734312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TRANSACTIONS AND MINING</a:t>
            </a:r>
          </a:p>
        </p:txBody>
      </p:sp>
      <p:sp>
        <p:nvSpPr>
          <p:cNvPr id="8284" name="Rectangle 8283">
            <a:extLst>
              <a:ext uri="{FF2B5EF4-FFF2-40B4-BE49-F238E27FC236}">
                <a16:creationId xmlns:a16="http://schemas.microsoft.com/office/drawing/2014/main" id="{969A7750-0D59-42C5-FA8A-AFE47155AF84}"/>
              </a:ext>
            </a:extLst>
          </p:cNvPr>
          <p:cNvSpPr/>
          <p:nvPr/>
        </p:nvSpPr>
        <p:spPr>
          <a:xfrm>
            <a:off x="734312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NODES AND NETWORK</a:t>
            </a:r>
          </a:p>
        </p:txBody>
      </p:sp>
      <p:sp>
        <p:nvSpPr>
          <p:cNvPr id="8285" name="Rectangle 8284">
            <a:extLst>
              <a:ext uri="{FF2B5EF4-FFF2-40B4-BE49-F238E27FC236}">
                <a16:creationId xmlns:a16="http://schemas.microsoft.com/office/drawing/2014/main" id="{14BE5144-3D5A-35C8-CEDA-6297A00EFD57}"/>
              </a:ext>
            </a:extLst>
          </p:cNvPr>
          <p:cNvSpPr/>
          <p:nvPr/>
        </p:nvSpPr>
        <p:spPr>
          <a:xfrm>
            <a:off x="734312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BITCOIN SECURITY AND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LEGAL CONCERNS</a:t>
            </a:r>
          </a:p>
        </p:txBody>
      </p:sp>
      <p:sp>
        <p:nvSpPr>
          <p:cNvPr id="8286" name="Rectangle 8285">
            <a:extLst>
              <a:ext uri="{FF2B5EF4-FFF2-40B4-BE49-F238E27FC236}">
                <a16:creationId xmlns:a16="http://schemas.microsoft.com/office/drawing/2014/main" id="{053C5AC0-DE0D-83FE-FBDB-94CD9249CEE3}"/>
              </a:ext>
            </a:extLst>
          </p:cNvPr>
          <p:cNvSpPr/>
          <p:nvPr/>
        </p:nvSpPr>
        <p:spPr>
          <a:xfrm>
            <a:off x="734312" y="5625516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BITCOIN LAB</a:t>
            </a:r>
          </a:p>
        </p:txBody>
      </p:sp>
      <p:sp>
        <p:nvSpPr>
          <p:cNvPr id="8287" name="Rectangle 8286">
            <a:extLst>
              <a:ext uri="{FF2B5EF4-FFF2-40B4-BE49-F238E27FC236}">
                <a16:creationId xmlns:a16="http://schemas.microsoft.com/office/drawing/2014/main" id="{617B69D3-A6C9-4E6C-B596-577AC76F7628}"/>
              </a:ext>
            </a:extLst>
          </p:cNvPr>
          <p:cNvSpPr/>
          <p:nvPr/>
        </p:nvSpPr>
        <p:spPr>
          <a:xfrm>
            <a:off x="2905482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88" name="Rectangle 8287">
            <a:extLst>
              <a:ext uri="{FF2B5EF4-FFF2-40B4-BE49-F238E27FC236}">
                <a16:creationId xmlns:a16="http://schemas.microsoft.com/office/drawing/2014/main" id="{10104BA7-F899-836F-C1C2-A4F379D74A2B}"/>
              </a:ext>
            </a:extLst>
          </p:cNvPr>
          <p:cNvSpPr/>
          <p:nvPr/>
        </p:nvSpPr>
        <p:spPr>
          <a:xfrm>
            <a:off x="2905482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INTRODUCTION</a:t>
            </a:r>
          </a:p>
        </p:txBody>
      </p:sp>
      <p:sp>
        <p:nvSpPr>
          <p:cNvPr id="8289" name="Rectangle 8288">
            <a:extLst>
              <a:ext uri="{FF2B5EF4-FFF2-40B4-BE49-F238E27FC236}">
                <a16:creationId xmlns:a16="http://schemas.microsoft.com/office/drawing/2014/main" id="{7ED738B9-ED07-05B2-1D05-555C6C0F6867}"/>
              </a:ext>
            </a:extLst>
          </p:cNvPr>
          <p:cNvSpPr/>
          <p:nvPr/>
        </p:nvSpPr>
        <p:spPr>
          <a:xfrm>
            <a:off x="2905482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MINING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POS AND SECURITY</a:t>
            </a:r>
          </a:p>
        </p:txBody>
      </p:sp>
      <p:sp>
        <p:nvSpPr>
          <p:cNvPr id="8291" name="Rectangle 8290">
            <a:extLst>
              <a:ext uri="{FF2B5EF4-FFF2-40B4-BE49-F238E27FC236}">
                <a16:creationId xmlns:a16="http://schemas.microsoft.com/office/drawing/2014/main" id="{06A3FCFA-2B3F-22AF-487F-6E7C0923E42E}"/>
              </a:ext>
            </a:extLst>
          </p:cNvPr>
          <p:cNvSpPr/>
          <p:nvPr/>
        </p:nvSpPr>
        <p:spPr>
          <a:xfrm>
            <a:off x="2905482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ETHEREUM NETWORK</a:t>
            </a:r>
          </a:p>
        </p:txBody>
      </p:sp>
      <p:sp>
        <p:nvSpPr>
          <p:cNvPr id="8292" name="Rectangle 8291">
            <a:extLst>
              <a:ext uri="{FF2B5EF4-FFF2-40B4-BE49-F238E27FC236}">
                <a16:creationId xmlns:a16="http://schemas.microsoft.com/office/drawing/2014/main" id="{9655E7B1-2F02-2240-E0B7-6B9483A2EA8D}"/>
              </a:ext>
            </a:extLst>
          </p:cNvPr>
          <p:cNvSpPr/>
          <p:nvPr/>
        </p:nvSpPr>
        <p:spPr>
          <a:xfrm>
            <a:off x="2905482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SMART CONTRACTS</a:t>
            </a:r>
          </a:p>
        </p:txBody>
      </p:sp>
      <p:sp>
        <p:nvSpPr>
          <p:cNvPr id="8293" name="Rectangle 8292">
            <a:extLst>
              <a:ext uri="{FF2B5EF4-FFF2-40B4-BE49-F238E27FC236}">
                <a16:creationId xmlns:a16="http://schemas.microsoft.com/office/drawing/2014/main" id="{4BFB37A6-927C-FBE5-2439-F7986F6C2212}"/>
              </a:ext>
            </a:extLst>
          </p:cNvPr>
          <p:cNvSpPr/>
          <p:nvPr/>
        </p:nvSpPr>
        <p:spPr>
          <a:xfrm>
            <a:off x="2905482" y="5625516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ETHEREUM LAB</a:t>
            </a:r>
          </a:p>
        </p:txBody>
      </p:sp>
      <p:sp>
        <p:nvSpPr>
          <p:cNvPr id="8294" name="Rectangle 8293">
            <a:extLst>
              <a:ext uri="{FF2B5EF4-FFF2-40B4-BE49-F238E27FC236}">
                <a16:creationId xmlns:a16="http://schemas.microsoft.com/office/drawing/2014/main" id="{E26FA3C8-95C4-0F23-D6BE-BFD1D91D7572}"/>
              </a:ext>
            </a:extLst>
          </p:cNvPr>
          <p:cNvSpPr/>
          <p:nvPr/>
        </p:nvSpPr>
        <p:spPr>
          <a:xfrm>
            <a:off x="5066325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95" name="Rectangle 8294">
            <a:extLst>
              <a:ext uri="{FF2B5EF4-FFF2-40B4-BE49-F238E27FC236}">
                <a16:creationId xmlns:a16="http://schemas.microsoft.com/office/drawing/2014/main" id="{6A9DFC93-FE71-5A3A-E1E0-4A6C3B07BD1F}"/>
              </a:ext>
            </a:extLst>
          </p:cNvPr>
          <p:cNvSpPr/>
          <p:nvPr/>
        </p:nvSpPr>
        <p:spPr>
          <a:xfrm>
            <a:off x="5066325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DIGITAL ASSETS TOKENIZATIONS AND NFTS</a:t>
            </a:r>
          </a:p>
        </p:txBody>
      </p:sp>
      <p:sp>
        <p:nvSpPr>
          <p:cNvPr id="8296" name="Rectangle 8295">
            <a:extLst>
              <a:ext uri="{FF2B5EF4-FFF2-40B4-BE49-F238E27FC236}">
                <a16:creationId xmlns:a16="http://schemas.microsoft.com/office/drawing/2014/main" id="{3C070CB6-EBED-7B33-A54E-CE3A8D645AB7}"/>
              </a:ext>
            </a:extLst>
          </p:cNvPr>
          <p:cNvSpPr/>
          <p:nvPr/>
        </p:nvSpPr>
        <p:spPr>
          <a:xfrm>
            <a:off x="5066325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TOKEN-BASED COMMUNITIES AND NFTS IN PRACTICE</a:t>
            </a:r>
          </a:p>
        </p:txBody>
      </p:sp>
      <p:sp>
        <p:nvSpPr>
          <p:cNvPr id="8298" name="Rectangle 8297">
            <a:extLst>
              <a:ext uri="{FF2B5EF4-FFF2-40B4-BE49-F238E27FC236}">
                <a16:creationId xmlns:a16="http://schemas.microsoft.com/office/drawing/2014/main" id="{58CA703E-43E8-7E52-F6E0-E2BAA70779CB}"/>
              </a:ext>
            </a:extLst>
          </p:cNvPr>
          <p:cNvSpPr/>
          <p:nvPr/>
        </p:nvSpPr>
        <p:spPr>
          <a:xfrm>
            <a:off x="5066325" y="5049781"/>
            <a:ext cx="2045186" cy="2887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TOKEN LAB</a:t>
            </a:r>
          </a:p>
        </p:txBody>
      </p:sp>
      <p:sp>
        <p:nvSpPr>
          <p:cNvPr id="8299" name="Rectangle 8298">
            <a:extLst>
              <a:ext uri="{FF2B5EF4-FFF2-40B4-BE49-F238E27FC236}">
                <a16:creationId xmlns:a16="http://schemas.microsoft.com/office/drawing/2014/main" id="{E450A2EC-CB1E-838D-25E3-336AC3A72E49}"/>
              </a:ext>
            </a:extLst>
          </p:cNvPr>
          <p:cNvSpPr/>
          <p:nvPr/>
        </p:nvSpPr>
        <p:spPr>
          <a:xfrm>
            <a:off x="5066325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ILLICIT FINANCE FORENSICS AND REGULATION</a:t>
            </a:r>
          </a:p>
        </p:txBody>
      </p:sp>
      <p:sp>
        <p:nvSpPr>
          <p:cNvPr id="8300" name="Rectangle 8299">
            <a:extLst>
              <a:ext uri="{FF2B5EF4-FFF2-40B4-BE49-F238E27FC236}">
                <a16:creationId xmlns:a16="http://schemas.microsoft.com/office/drawing/2014/main" id="{48903498-513D-CBA1-D921-29BB220F1A9C}"/>
              </a:ext>
            </a:extLst>
          </p:cNvPr>
          <p:cNvSpPr/>
          <p:nvPr/>
        </p:nvSpPr>
        <p:spPr>
          <a:xfrm>
            <a:off x="5066325" y="5625516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FORENSICS</a:t>
            </a:r>
          </a:p>
        </p:txBody>
      </p:sp>
      <p:sp>
        <p:nvSpPr>
          <p:cNvPr id="8301" name="Rectangle 8300">
            <a:extLst>
              <a:ext uri="{FF2B5EF4-FFF2-40B4-BE49-F238E27FC236}">
                <a16:creationId xmlns:a16="http://schemas.microsoft.com/office/drawing/2014/main" id="{3D20C3AF-D8C6-28CD-0642-817444976E40}"/>
              </a:ext>
            </a:extLst>
          </p:cNvPr>
          <p:cNvSpPr/>
          <p:nvPr/>
        </p:nvSpPr>
        <p:spPr>
          <a:xfrm>
            <a:off x="7240667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305" name="Rectangle 8304">
            <a:extLst>
              <a:ext uri="{FF2B5EF4-FFF2-40B4-BE49-F238E27FC236}">
                <a16:creationId xmlns:a16="http://schemas.microsoft.com/office/drawing/2014/main" id="{2406E301-D8C9-FD6E-9D7E-4840FF3B33CB}"/>
              </a:ext>
            </a:extLst>
          </p:cNvPr>
          <p:cNvSpPr/>
          <p:nvPr/>
        </p:nvSpPr>
        <p:spPr>
          <a:xfrm>
            <a:off x="7240667" y="4309402"/>
            <a:ext cx="2045186" cy="4505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FORENSICS LAB</a:t>
            </a:r>
          </a:p>
        </p:txBody>
      </p:sp>
      <p:sp>
        <p:nvSpPr>
          <p:cNvPr id="8306" name="Rectangle 8305">
            <a:extLst>
              <a:ext uri="{FF2B5EF4-FFF2-40B4-BE49-F238E27FC236}">
                <a16:creationId xmlns:a16="http://schemas.microsoft.com/office/drawing/2014/main" id="{52D12456-8C8A-3199-328D-859890B9365D}"/>
              </a:ext>
            </a:extLst>
          </p:cNvPr>
          <p:cNvSpPr/>
          <p:nvPr/>
        </p:nvSpPr>
        <p:spPr>
          <a:xfrm>
            <a:off x="7240667" y="504978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IN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THE REAL WORLD</a:t>
            </a:r>
          </a:p>
        </p:txBody>
      </p:sp>
      <p:sp>
        <p:nvSpPr>
          <p:cNvPr id="8307" name="Rectangle 8306">
            <a:extLst>
              <a:ext uri="{FF2B5EF4-FFF2-40B4-BE49-F238E27FC236}">
                <a16:creationId xmlns:a16="http://schemas.microsoft.com/office/drawing/2014/main" id="{699E5D27-6534-FD08-5A3E-843D947AE181}"/>
              </a:ext>
            </a:extLst>
          </p:cNvPr>
          <p:cNvSpPr/>
          <p:nvPr/>
        </p:nvSpPr>
        <p:spPr>
          <a:xfrm>
            <a:off x="7240667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CBDC AND STABLECOINS</a:t>
            </a:r>
          </a:p>
        </p:txBody>
      </p:sp>
      <p:sp>
        <p:nvSpPr>
          <p:cNvPr id="8308" name="Rectangle 8307">
            <a:extLst>
              <a:ext uri="{FF2B5EF4-FFF2-40B4-BE49-F238E27FC236}">
                <a16:creationId xmlns:a16="http://schemas.microsoft.com/office/drawing/2014/main" id="{0657C71A-9796-BB41-9ABB-807E6F7493E9}"/>
              </a:ext>
            </a:extLst>
          </p:cNvPr>
          <p:cNvSpPr/>
          <p:nvPr/>
        </p:nvSpPr>
        <p:spPr>
          <a:xfrm>
            <a:off x="9412503" y="4148437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310" name="Rectangle 8309">
            <a:extLst>
              <a:ext uri="{FF2B5EF4-FFF2-40B4-BE49-F238E27FC236}">
                <a16:creationId xmlns:a16="http://schemas.microsoft.com/office/drawing/2014/main" id="{2D03E0CC-837D-C270-41D1-E24491D1955B}"/>
              </a:ext>
            </a:extLst>
          </p:cNvPr>
          <p:cNvSpPr/>
          <p:nvPr/>
        </p:nvSpPr>
        <p:spPr>
          <a:xfrm>
            <a:off x="9412503" y="430940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TECHNICAL CONCEPTS REVIEW</a:t>
            </a:r>
          </a:p>
        </p:txBody>
      </p:sp>
      <p:sp>
        <p:nvSpPr>
          <p:cNvPr id="8312" name="Rectangle 8311">
            <a:extLst>
              <a:ext uri="{FF2B5EF4-FFF2-40B4-BE49-F238E27FC236}">
                <a16:creationId xmlns:a16="http://schemas.microsoft.com/office/drawing/2014/main" id="{A5D9BA75-6293-3E04-9817-0B02153EEB00}"/>
              </a:ext>
            </a:extLst>
          </p:cNvPr>
          <p:cNvSpPr/>
          <p:nvPr/>
        </p:nvSpPr>
        <p:spPr>
          <a:xfrm>
            <a:off x="9412503" y="4595005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FUTURE TRAJECTORIES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AND SYNTHESIS</a:t>
            </a:r>
          </a:p>
        </p:txBody>
      </p:sp>
      <p:sp>
        <p:nvSpPr>
          <p:cNvPr id="8313" name="Rectangle 8312">
            <a:extLst>
              <a:ext uri="{FF2B5EF4-FFF2-40B4-BE49-F238E27FC236}">
                <a16:creationId xmlns:a16="http://schemas.microsoft.com/office/drawing/2014/main" id="{080DBCA2-5D03-AEEC-F70C-A8A0B0370E83}"/>
              </a:ext>
            </a:extLst>
          </p:cNvPr>
          <p:cNvSpPr/>
          <p:nvPr/>
        </p:nvSpPr>
        <p:spPr>
          <a:xfrm>
            <a:off x="9412503" y="5049781"/>
            <a:ext cx="2045186" cy="2887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FINAL EXAM</a:t>
            </a:r>
          </a:p>
        </p:txBody>
      </p:sp>
      <p:sp>
        <p:nvSpPr>
          <p:cNvPr id="8315" name="Rectangle 8314">
            <a:extLst>
              <a:ext uri="{FF2B5EF4-FFF2-40B4-BE49-F238E27FC236}">
                <a16:creationId xmlns:a16="http://schemas.microsoft.com/office/drawing/2014/main" id="{B8C9E357-DBAA-866E-6B87-6EF3908AC0DA}"/>
              </a:ext>
            </a:extLst>
          </p:cNvPr>
          <p:cNvSpPr/>
          <p:nvPr/>
        </p:nvSpPr>
        <p:spPr>
          <a:xfrm>
            <a:off x="9412503" y="5338524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OUTBRIEF AND AAR</a:t>
            </a:r>
          </a:p>
        </p:txBody>
      </p:sp>
      <p:sp>
        <p:nvSpPr>
          <p:cNvPr id="8270" name="Rectangle 8269">
            <a:extLst>
              <a:ext uri="{FF2B5EF4-FFF2-40B4-BE49-F238E27FC236}">
                <a16:creationId xmlns:a16="http://schemas.microsoft.com/office/drawing/2014/main" id="{A55CE202-F4C9-DCFC-B12A-3BCEDB47970A}"/>
              </a:ext>
            </a:extLst>
          </p:cNvPr>
          <p:cNvSpPr/>
          <p:nvPr/>
        </p:nvSpPr>
        <p:spPr>
          <a:xfrm>
            <a:off x="9412503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109032-FF73-FC24-7047-95BB3CB78518}"/>
              </a:ext>
            </a:extLst>
          </p:cNvPr>
          <p:cNvSpPr/>
          <p:nvPr/>
        </p:nvSpPr>
        <p:spPr>
          <a:xfrm>
            <a:off x="9412503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PERMISSIONED DISTRIBUTED LEDGERS</a:t>
            </a:r>
          </a:p>
        </p:txBody>
      </p:sp>
      <p:sp>
        <p:nvSpPr>
          <p:cNvPr id="8263" name="Rectangle 8262">
            <a:extLst>
              <a:ext uri="{FF2B5EF4-FFF2-40B4-BE49-F238E27FC236}">
                <a16:creationId xmlns:a16="http://schemas.microsoft.com/office/drawing/2014/main" id="{C878A228-9E76-78EB-2755-2000A2BF2763}"/>
              </a:ext>
            </a:extLst>
          </p:cNvPr>
          <p:cNvSpPr/>
          <p:nvPr/>
        </p:nvSpPr>
        <p:spPr>
          <a:xfrm>
            <a:off x="7240667" y="1584176"/>
            <a:ext cx="2045186" cy="1631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QUIZ &amp; DISCUSSION</a:t>
            </a:r>
          </a:p>
        </p:txBody>
      </p:sp>
      <p:sp>
        <p:nvSpPr>
          <p:cNvPr id="8264" name="Rectangle 8263">
            <a:extLst>
              <a:ext uri="{FF2B5EF4-FFF2-40B4-BE49-F238E27FC236}">
                <a16:creationId xmlns:a16="http://schemas.microsoft.com/office/drawing/2014/main" id="{B762654B-CCD1-4514-2EC7-A1215F1CB70E}"/>
              </a:ext>
            </a:extLst>
          </p:cNvPr>
          <p:cNvSpPr/>
          <p:nvPr/>
        </p:nvSpPr>
        <p:spPr>
          <a:xfrm>
            <a:off x="7240667" y="173999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DISTRIBUTED LEDGERS</a:t>
            </a:r>
          </a:p>
        </p:txBody>
      </p:sp>
      <p:sp>
        <p:nvSpPr>
          <p:cNvPr id="8265" name="Rectangle 8264">
            <a:extLst>
              <a:ext uri="{FF2B5EF4-FFF2-40B4-BE49-F238E27FC236}">
                <a16:creationId xmlns:a16="http://schemas.microsoft.com/office/drawing/2014/main" id="{48193CBB-9B39-9387-11BD-29FBD9D1F350}"/>
              </a:ext>
            </a:extLst>
          </p:cNvPr>
          <p:cNvSpPr/>
          <p:nvPr/>
        </p:nvSpPr>
        <p:spPr>
          <a:xfrm>
            <a:off x="7240667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CONSENSUS IN DISTRIBUTED SYSTEMS AND BLOCKCHAINS</a:t>
            </a:r>
          </a:p>
        </p:txBody>
      </p:sp>
      <p:sp>
        <p:nvSpPr>
          <p:cNvPr id="8267" name="Rectangle 8266">
            <a:extLst>
              <a:ext uri="{FF2B5EF4-FFF2-40B4-BE49-F238E27FC236}">
                <a16:creationId xmlns:a16="http://schemas.microsoft.com/office/drawing/2014/main" id="{16CAD466-FB79-F90A-D395-C42E82FE83D8}"/>
              </a:ext>
            </a:extLst>
          </p:cNvPr>
          <p:cNvSpPr/>
          <p:nvPr/>
        </p:nvSpPr>
        <p:spPr>
          <a:xfrm>
            <a:off x="7240667" y="2494882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PROOF OF WORK AND SECURITY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529F80-105B-78A3-5A80-2BFFAC8FAA85}"/>
              </a:ext>
            </a:extLst>
          </p:cNvPr>
          <p:cNvSpPr/>
          <p:nvPr/>
        </p:nvSpPr>
        <p:spPr>
          <a:xfrm>
            <a:off x="7240667" y="3068477"/>
            <a:ext cx="2045186" cy="297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CONSENSUS LAB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DC84C5-C69A-D6CF-59EC-388366C924A7}"/>
              </a:ext>
            </a:extLst>
          </p:cNvPr>
          <p:cNvSpPr/>
          <p:nvPr/>
        </p:nvSpPr>
        <p:spPr>
          <a:xfrm>
            <a:off x="7240667" y="278431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PROOF OF STAKE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422EB0-1178-AAAF-0C07-A2052C3B449F}"/>
              </a:ext>
            </a:extLst>
          </p:cNvPr>
          <p:cNvSpPr/>
          <p:nvPr/>
        </p:nvSpPr>
        <p:spPr>
          <a:xfrm>
            <a:off x="7240667" y="5625516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BLOCKCHAIN IN GEOPOLITICAL COMPETITION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76C0E2-B982-F523-CCDE-91F084F2D853}"/>
              </a:ext>
            </a:extLst>
          </p:cNvPr>
          <p:cNvSpPr/>
          <p:nvPr/>
        </p:nvSpPr>
        <p:spPr>
          <a:xfrm>
            <a:off x="9412503" y="2494882"/>
            <a:ext cx="2045186" cy="297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HYPERLEDGER LAB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C65536-77D8-50B4-506B-5EDADE181D22}"/>
              </a:ext>
            </a:extLst>
          </p:cNvPr>
          <p:cNvSpPr/>
          <p:nvPr/>
        </p:nvSpPr>
        <p:spPr>
          <a:xfrm>
            <a:off x="9412503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HYPERLEDGER FABRIC</a:t>
            </a:r>
          </a:p>
        </p:txBody>
      </p:sp>
      <p:sp>
        <p:nvSpPr>
          <p:cNvPr id="8221" name="Rectangle 8220">
            <a:extLst>
              <a:ext uri="{FF2B5EF4-FFF2-40B4-BE49-F238E27FC236}">
                <a16:creationId xmlns:a16="http://schemas.microsoft.com/office/drawing/2014/main" id="{67D48BF8-00CC-6F85-D5CE-D691069062AF}"/>
              </a:ext>
            </a:extLst>
          </p:cNvPr>
          <p:cNvSpPr/>
          <p:nvPr/>
        </p:nvSpPr>
        <p:spPr>
          <a:xfrm>
            <a:off x="734312" y="2027651"/>
            <a:ext cx="2045186" cy="288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CYPHERPUNK ETHOS &amp;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DECENTRALIZED SYSTEMS</a:t>
            </a:r>
          </a:p>
        </p:txBody>
      </p:sp>
      <p:sp>
        <p:nvSpPr>
          <p:cNvPr id="8279" name="Rectangle 8278">
            <a:extLst>
              <a:ext uri="{FF2B5EF4-FFF2-40B4-BE49-F238E27FC236}">
                <a16:creationId xmlns:a16="http://schemas.microsoft.com/office/drawing/2014/main" id="{9C9690E7-BC72-4F8D-9A61-9B5832AE40B0}"/>
              </a:ext>
            </a:extLst>
          </p:cNvPr>
          <p:cNvSpPr/>
          <p:nvPr/>
        </p:nvSpPr>
        <p:spPr>
          <a:xfrm>
            <a:off x="9412503" y="2784311"/>
            <a:ext cx="2045186" cy="28874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/>
              </a:rPr>
              <a:t>USE CASE EXPLORATION</a:t>
            </a:r>
          </a:p>
        </p:txBody>
      </p:sp>
    </p:spTree>
    <p:extLst>
      <p:ext uri="{BB962C8B-B14F-4D97-AF65-F5344CB8AC3E}">
        <p14:creationId xmlns:p14="http://schemas.microsoft.com/office/powerpoint/2010/main" val="1190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43d788-d0c4-4a1f-9b53-440691491c52">
      <Terms xmlns="http://schemas.microsoft.com/office/infopath/2007/PartnerControls"/>
    </lcf76f155ced4ddcb4097134ff3c332f>
    <TaxCatchAll xmlns="52753beb-0b52-454e-bd98-7959fa5ede35" xsi:nil="true"/>
    <Notes xmlns="9043d788-d0c4-4a1f-9b53-440691491c5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008DB8FDEF644D8EA31886659FA06D" ma:contentTypeVersion="20" ma:contentTypeDescription="Create a new document." ma:contentTypeScope="" ma:versionID="944602c35bf3e5e989493f64612a5e96">
  <xsd:schema xmlns:xsd="http://www.w3.org/2001/XMLSchema" xmlns:xs="http://www.w3.org/2001/XMLSchema" xmlns:p="http://schemas.microsoft.com/office/2006/metadata/properties" xmlns:ns2="9043d788-d0c4-4a1f-9b53-440691491c52" xmlns:ns3="52753beb-0b52-454e-bd98-7959fa5ede35" targetNamespace="http://schemas.microsoft.com/office/2006/metadata/properties" ma:root="true" ma:fieldsID="768831d0c73f8616d56b4b8d09baa766" ns2:_="" ns3:_="">
    <xsd:import namespace="9043d788-d0c4-4a1f-9b53-440691491c52"/>
    <xsd:import namespace="52753beb-0b52-454e-bd98-7959fa5ed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43d788-d0c4-4a1f-9b53-440691491c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c7eb-5c45-4d0a-8479-4b30401fca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53beb-0b52-454e-bd98-7959fa5ed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5a83fc-e8f6-4374-902a-3494432483f9}" ma:internalName="TaxCatchAll" ma:showField="CatchAllData" ma:web="52753beb-0b52-454e-bd98-7959fa5ed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C7E19-1EFC-440D-A9D9-82B8CC3D54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0FDE29-9D07-4683-A9C1-A174327BF11D}">
  <ds:schemaRefs>
    <ds:schemaRef ds:uri="52753beb-0b52-454e-bd98-7959fa5ede35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9043d788-d0c4-4a1f-9b53-440691491c52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2317E20-C123-4313-A8FC-734463AE9F0A}">
  <ds:schemaRefs>
    <ds:schemaRef ds:uri="52753beb-0b52-454e-bd98-7959fa5ede35"/>
    <ds:schemaRef ds:uri="9043d788-d0c4-4a1f-9b53-440691491c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7223</TotalTime>
  <Words>426</Words>
  <Application>Microsoft Macintosh PowerPoint</Application>
  <PresentationFormat>Widescreen</PresentationFormat>
  <Paragraphs>174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 Arial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Olson, Karl M LTC</dc:creator>
  <cp:lastModifiedBy>Catudal, Joseph W LTC USARMY USMA (USA)</cp:lastModifiedBy>
  <cp:revision>17</cp:revision>
  <dcterms:created xsi:type="dcterms:W3CDTF">2026-02-02T17:21:35Z</dcterms:created>
  <dcterms:modified xsi:type="dcterms:W3CDTF">2026-03-27T22:36:26Z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0x010100F5008DB8FDEF644D8EA31886659FA06D</vt:lpwstr>
  </property>
  <property fmtid="{D5CDD505-2E9C-101B-9397-08002B2CF9AE}" pid="3" name="MediaServiceImageTags">
    <vt:lpwstr/>
  </property>
  <property fmtid="{D5CDD505-2E9C-101B-9397-08002B2CF9AE}" pid="4" name="MSIP_Label_554eecc5-e26c-4620-b240-5a8bb326c33d_Enabled">
    <vt:lpwstr>true</vt:lpwstr>
  </property>
  <property fmtid="{D5CDD505-2E9C-101B-9397-08002B2CF9AE}" pid="5" name="MSIP_Label_554eecc5-e26c-4620-b240-5a8bb326c33d_SetDate">
    <vt:lpwstr>2026-03-25T15:41:46Z</vt:lpwstr>
  </property>
  <property fmtid="{D5CDD505-2E9C-101B-9397-08002B2CF9AE}" pid="6" name="MSIP_Label_554eecc5-e26c-4620-b240-5a8bb326c33d_Method">
    <vt:lpwstr>Standard</vt:lpwstr>
  </property>
  <property fmtid="{D5CDD505-2E9C-101B-9397-08002B2CF9AE}" pid="7" name="MSIP_Label_554eecc5-e26c-4620-b240-5a8bb326c33d_Name">
    <vt:lpwstr>Uncontrolled_Child_01</vt:lpwstr>
  </property>
  <property fmtid="{D5CDD505-2E9C-101B-9397-08002B2CF9AE}" pid="8" name="MSIP_Label_554eecc5-e26c-4620-b240-5a8bb326c33d_SiteId">
    <vt:lpwstr>fae6d70f-954b-4811-92b6-0530d6f84c43</vt:lpwstr>
  </property>
  <property fmtid="{D5CDD505-2E9C-101B-9397-08002B2CF9AE}" pid="9" name="MSIP_Label_554eecc5-e26c-4620-b240-5a8bb326c33d_ActionId">
    <vt:lpwstr>a7d81d06-fb71-47d5-bf9b-7f7161b5313c</vt:lpwstr>
  </property>
  <property fmtid="{D5CDD505-2E9C-101B-9397-08002B2CF9AE}" pid="10" name="MSIP_Label_554eecc5-e26c-4620-b240-5a8bb326c33d_ContentBits">
    <vt:lpwstr>0</vt:lpwstr>
  </property>
</Properties>
</file>